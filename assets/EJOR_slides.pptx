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slideLayouts/slideLayout20.xml" ContentType="application/vnd.openxmlformats-officedocument.presentationml.slideLayout+xml"/>
  <Override PartName="/ppt/theme/theme5.xml" ContentType="application/vnd.openxmlformats-officedocument.theme+xml"/>
  <Override PartName="/ppt/slideLayouts/slideLayout21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3" r:id="rId1"/>
    <p:sldMasterId id="2147483668" r:id="rId2"/>
    <p:sldMasterId id="2147483674" r:id="rId3"/>
    <p:sldMasterId id="2147483648" r:id="rId4"/>
    <p:sldMasterId id="2147483684" r:id="rId5"/>
    <p:sldMasterId id="2147483697" r:id="rId6"/>
  </p:sldMasterIdLst>
  <p:notesMasterIdLst>
    <p:notesMasterId r:id="rId38"/>
  </p:notesMasterIdLst>
  <p:handoutMasterIdLst>
    <p:handoutMasterId r:id="rId39"/>
  </p:handoutMasterIdLst>
  <p:sldIdLst>
    <p:sldId id="355" r:id="rId7"/>
    <p:sldId id="498" r:id="rId8"/>
    <p:sldId id="458" r:id="rId9"/>
    <p:sldId id="499" r:id="rId10"/>
    <p:sldId id="471" r:id="rId11"/>
    <p:sldId id="472" r:id="rId12"/>
    <p:sldId id="470" r:id="rId13"/>
    <p:sldId id="473" r:id="rId14"/>
    <p:sldId id="513" r:id="rId15"/>
    <p:sldId id="406" r:id="rId16"/>
    <p:sldId id="482" r:id="rId17"/>
    <p:sldId id="486" r:id="rId18"/>
    <p:sldId id="487" r:id="rId19"/>
    <p:sldId id="475" r:id="rId20"/>
    <p:sldId id="484" r:id="rId21"/>
    <p:sldId id="509" r:id="rId22"/>
    <p:sldId id="408" r:id="rId23"/>
    <p:sldId id="420" r:id="rId24"/>
    <p:sldId id="421" r:id="rId25"/>
    <p:sldId id="511" r:id="rId26"/>
    <p:sldId id="491" r:id="rId27"/>
    <p:sldId id="423" r:id="rId28"/>
    <p:sldId id="425" r:id="rId29"/>
    <p:sldId id="413" r:id="rId30"/>
    <p:sldId id="495" r:id="rId31"/>
    <p:sldId id="496" r:id="rId32"/>
    <p:sldId id="497" r:id="rId33"/>
    <p:sldId id="492" r:id="rId34"/>
    <p:sldId id="510" r:id="rId35"/>
    <p:sldId id="405" r:id="rId36"/>
    <p:sldId id="493" r:id="rId37"/>
  </p:sldIdLst>
  <p:sldSz cx="9144000" cy="6858000" type="screen4x3"/>
  <p:notesSz cx="9925050" cy="66659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99"/>
    <a:srgbClr val="98C6EA"/>
    <a:srgbClr val="005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09" autoAdjust="0"/>
    <p:restoredTop sz="89932" autoAdjust="0"/>
  </p:normalViewPr>
  <p:slideViewPr>
    <p:cSldViewPr snapToGrid="0">
      <p:cViewPr varScale="1">
        <p:scale>
          <a:sx n="115" d="100"/>
          <a:sy n="115" d="100"/>
        </p:scale>
        <p:origin x="188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5" d="100"/>
          <a:sy n="135" d="100"/>
        </p:scale>
        <p:origin x="-1518" y="-90"/>
      </p:cViewPr>
      <p:guideLst>
        <p:guide orient="horz" pos="2100"/>
        <p:guide pos="312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tableStyles" Target="tableStyle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751376-2EB8-4403-B858-305A8AAA6B01}" type="datetimeFigureOut">
              <a:rPr lang="en-GB"/>
              <a:pPr>
                <a:defRPr/>
              </a:pPr>
              <a:t>03/09/2024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9C46BC9-2C9E-4670-A85A-6A588BA2D405}" type="datetimeFigureOut">
              <a:rPr lang="en-GB"/>
              <a:pPr>
                <a:defRPr/>
              </a:pPr>
              <a:t>03/09/2024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295650" y="500063"/>
            <a:ext cx="333375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8667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Applied IP on OPT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953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Why it works well: &gt;&gt;</a:t>
            </a:r>
            <a:r>
              <a:rPr lang="en-US" sz="1200" dirty="0" err="1"/>
              <a:t>cont</a:t>
            </a:r>
            <a:r>
              <a:rPr lang="en-US" sz="1200" dirty="0"/>
              <a:t> var but &lt;&lt;int vars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Downsides: alpha, </a:t>
            </a:r>
            <a:r>
              <a:rPr lang="en-US" sz="1200" dirty="0" err="1"/>
              <a:t>hyperparams</a:t>
            </a:r>
            <a:r>
              <a:rPr lang="en-US" sz="1200" dirty="0"/>
              <a:t> to explore –&gt; solve larger instances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MIP gap is small, same for alpha -&gt; practical recommendation</a:t>
            </a:r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3802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62188"/>
            <a:ext cx="8508999" cy="469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560219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30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62188"/>
            <a:ext cx="8508999" cy="469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675893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747977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494489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499360"/>
            <a:ext cx="8508999" cy="39624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364260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476500"/>
            <a:ext cx="9144000" cy="43815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123532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91640"/>
            <a:ext cx="9144000" cy="516636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435256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477139"/>
            <a:ext cx="9144000" cy="43808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90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62188"/>
            <a:ext cx="8508999" cy="469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499360"/>
            <a:ext cx="8508999" cy="39624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477139"/>
            <a:ext cx="9144000" cy="43808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476500"/>
            <a:ext cx="9144000" cy="43815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91640"/>
            <a:ext cx="9144000" cy="516636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2579873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5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10" Type="http://schemas.openxmlformats.org/officeDocument/2006/relationships/image" Target="../media/image1.wmf"/><Relationship Id="rId4" Type="http://schemas.openxmlformats.org/officeDocument/2006/relationships/slideLayout" Target="../slideLayouts/slideLayout7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1.wmf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7829538" cy="384687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719" r:id="rId2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7713330" y="6563283"/>
            <a:ext cx="1115376" cy="193002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‹#›</a:t>
            </a:fld>
            <a:endParaRPr lang="de-DE" sz="1200" dirty="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3" cstate="screen"/>
          <a:srcRect/>
          <a:stretch>
            <a:fillRect/>
          </a:stretch>
        </p:blipFill>
        <p:spPr>
          <a:xfrm>
            <a:off x="-42532" y="0"/>
            <a:ext cx="9185031" cy="68580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2627" y="324650"/>
            <a:ext cx="599722" cy="320400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320401" y="314325"/>
            <a:ext cx="7699650" cy="3484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Lehrstuhl für Musterverfahren</a:t>
            </a:r>
          </a:p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TUM School </a:t>
            </a:r>
            <a:r>
              <a:rPr lang="de-DE" sz="800" dirty="0" err="1">
                <a:solidFill>
                  <a:schemeClr val="tx2"/>
                </a:solidFill>
                <a:latin typeface="+mn-lt"/>
              </a:rPr>
              <a:t>of</a:t>
            </a:r>
            <a:r>
              <a:rPr lang="de-DE" sz="800" dirty="0">
                <a:solidFill>
                  <a:schemeClr val="tx2"/>
                </a:solidFill>
                <a:latin typeface="+mn-lt"/>
              </a:rPr>
              <a:t> Mustertechnik</a:t>
            </a:r>
          </a:p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Technische Universität</a:t>
            </a:r>
            <a:r>
              <a:rPr lang="de-DE" sz="800" baseline="0" dirty="0">
                <a:solidFill>
                  <a:schemeClr val="tx2"/>
                </a:solidFill>
                <a:latin typeface="+mn-lt"/>
              </a:rPr>
              <a:t> München</a:t>
            </a:r>
            <a:endParaRPr lang="de-DE" sz="800" dirty="0">
              <a:solidFill>
                <a:schemeClr val="tx2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7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704" r:id="rId3"/>
    <p:sldLayoutId id="2147483657" r:id="rId4"/>
    <p:sldLayoutId id="2147483711" r:id="rId5"/>
    <p:sldLayoutId id="2147483703" r:id="rId6"/>
    <p:sldLayoutId id="2147483653" r:id="rId7"/>
    <p:sldLayoutId id="2147483656" r:id="rId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hidden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22628" y="324650"/>
            <a:ext cx="599723" cy="320400"/>
          </a:xfrm>
          <a:prstGeom prst="rect">
            <a:avLst/>
          </a:prstGeom>
        </p:spPr>
      </p:pic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hidden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22627" y="324650"/>
            <a:ext cx="599722" cy="320400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svg"/><Relationship Id="rId11" Type="http://schemas.openxmlformats.org/officeDocument/2006/relationships/image" Target="../media/image20.png"/><Relationship Id="rId5" Type="http://schemas.openxmlformats.org/officeDocument/2006/relationships/image" Target="../media/image13.png"/><Relationship Id="rId10" Type="http://schemas.openxmlformats.org/officeDocument/2006/relationships/image" Target="../media/image19.svg"/><Relationship Id="rId4" Type="http://schemas.openxmlformats.org/officeDocument/2006/relationships/image" Target="../media/image12.sv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7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12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9.svg"/><Relationship Id="rId4" Type="http://schemas.openxmlformats.org/officeDocument/2006/relationships/image" Target="../media/image12.svg"/><Relationship Id="rId9" Type="http://schemas.openxmlformats.org/officeDocument/2006/relationships/image" Target="../media/image18.png"/><Relationship Id="rId1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3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svg"/><Relationship Id="rId11" Type="http://schemas.openxmlformats.org/officeDocument/2006/relationships/image" Target="../media/image33.png"/><Relationship Id="rId5" Type="http://schemas.openxmlformats.org/officeDocument/2006/relationships/image" Target="../media/image25.png"/><Relationship Id="rId10" Type="http://schemas.openxmlformats.org/officeDocument/2006/relationships/image" Target="../media/image32.svg"/><Relationship Id="rId4" Type="http://schemas.openxmlformats.org/officeDocument/2006/relationships/image" Target="../media/image24.sv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svg"/><Relationship Id="rId18" Type="http://schemas.openxmlformats.org/officeDocument/2006/relationships/image" Target="../media/image40.svg"/><Relationship Id="rId3" Type="http://schemas.openxmlformats.org/officeDocument/2006/relationships/image" Target="../media/image24.svg"/><Relationship Id="rId7" Type="http://schemas.openxmlformats.org/officeDocument/2006/relationships/image" Target="../media/image30.svg"/><Relationship Id="rId12" Type="http://schemas.openxmlformats.org/officeDocument/2006/relationships/image" Target="../media/image35.png"/><Relationship Id="rId17" Type="http://schemas.openxmlformats.org/officeDocument/2006/relationships/image" Target="../media/image39.png"/><Relationship Id="rId2" Type="http://schemas.openxmlformats.org/officeDocument/2006/relationships/image" Target="../media/image23.pn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png"/><Relationship Id="rId11" Type="http://schemas.openxmlformats.org/officeDocument/2006/relationships/image" Target="../media/image34.svg"/><Relationship Id="rId5" Type="http://schemas.openxmlformats.org/officeDocument/2006/relationships/image" Target="../media/image26.svg"/><Relationship Id="rId15" Type="http://schemas.openxmlformats.org/officeDocument/2006/relationships/image" Target="../media/image38.svg"/><Relationship Id="rId10" Type="http://schemas.openxmlformats.org/officeDocument/2006/relationships/image" Target="../media/image33.png"/><Relationship Id="rId4" Type="http://schemas.openxmlformats.org/officeDocument/2006/relationships/image" Target="../media/image25.png"/><Relationship Id="rId9" Type="http://schemas.openxmlformats.org/officeDocument/2006/relationships/image" Target="../media/image32.svg"/><Relationship Id="rId1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0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dx.doi.org/10.1561/3100000012" TargetMode="External"/><Relationship Id="rId2" Type="http://schemas.openxmlformats.org/officeDocument/2006/relationships/hyperlink" Target="https://doi.org/10.1287/opre.2023.0401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doi.org/10.1016/j.ejor.2003.12.01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de-DE" dirty="0"/>
              <a:t>Mete </a:t>
            </a:r>
            <a:r>
              <a:rPr lang="de-DE" dirty="0" err="1"/>
              <a:t>Ahunbay</a:t>
            </a:r>
            <a:r>
              <a:rPr lang="de-DE" dirty="0"/>
              <a:t>, Martin Bichler, </a:t>
            </a:r>
            <a:r>
              <a:rPr lang="de-DE" u="sng" dirty="0"/>
              <a:t>Teodora Dobos</a:t>
            </a:r>
            <a:r>
              <a:rPr lang="de-DE" dirty="0"/>
              <a:t>, Johannes Knörr</a:t>
            </a:r>
          </a:p>
          <a:p>
            <a:endParaRPr lang="de-DE" dirty="0"/>
          </a:p>
          <a:p>
            <a:r>
              <a:rPr lang="de-DE" dirty="0"/>
              <a:t>TUM School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Computation</a:t>
            </a:r>
            <a:r>
              <a:rPr lang="de-DE" dirty="0"/>
              <a:t>, Information and Technology</a:t>
            </a:r>
          </a:p>
          <a:p>
            <a:r>
              <a:rPr lang="de-DE" dirty="0"/>
              <a:t>Chair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Decision</a:t>
            </a:r>
            <a:r>
              <a:rPr lang="de-DE" dirty="0"/>
              <a:t> Sciences &amp; Systems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OR 2024</a:t>
            </a:r>
          </a:p>
          <a:p>
            <a:r>
              <a:rPr lang="de-DE" dirty="0"/>
              <a:t>September 2024</a:t>
            </a:r>
            <a:endParaRPr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319090" y="994334"/>
            <a:ext cx="8508999" cy="820738"/>
          </a:xfrm>
        </p:spPr>
        <p:txBody>
          <a:bodyPr/>
          <a:lstStyle/>
          <a:p>
            <a:r>
              <a:rPr lang="en-US" dirty="0"/>
              <a:t>Solving Large-Scale Electricity Market Pricing Problems in Polynomial Time </a:t>
            </a:r>
            <a:endParaRPr lang="de-DE" dirty="0"/>
          </a:p>
        </p:txBody>
      </p:sp>
      <p:pic>
        <p:nvPicPr>
          <p:cNvPr id="5" name="Bild 4" descr="TUM_Glockenturm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101" y="3051360"/>
            <a:ext cx="3892489" cy="33974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pPr marL="461963" lvl="1" indent="-285750"/>
            <a:r>
              <a:rPr lang="en-US" sz="1400" dirty="0"/>
              <a:t>Electricity markets are </a:t>
            </a:r>
            <a:r>
              <a:rPr lang="en-US" sz="1400" dirty="0">
                <a:solidFill>
                  <a:schemeClr val="tx2"/>
                </a:solidFill>
              </a:rPr>
              <a:t>non-convex markets</a:t>
            </a:r>
            <a:r>
              <a:rPr lang="en-US" sz="1400" dirty="0"/>
              <a:t>:</a:t>
            </a:r>
          </a:p>
          <a:p>
            <a:pPr marL="646113" lvl="2" indent="-285750">
              <a:buFont typeface="Wingdings" panose="05000000000000000000" pitchFamily="2" charset="2"/>
              <a:buChar char="Ø"/>
            </a:pPr>
            <a:r>
              <a:rPr lang="en-US" sz="1400" dirty="0"/>
              <a:t>non-convex preferences: minimum production levels, startup-costs, etc. </a:t>
            </a:r>
          </a:p>
          <a:p>
            <a:pPr marL="461963" lvl="1" indent="-285750"/>
            <a:endParaRPr lang="en-US" sz="1400" dirty="0"/>
          </a:p>
          <a:p>
            <a:pPr marL="461963" lvl="1" indent="-285750"/>
            <a:r>
              <a:rPr lang="en-US" sz="1400" dirty="0">
                <a:solidFill>
                  <a:schemeClr val="tx2"/>
                </a:solidFill>
              </a:rPr>
              <a:t>Day-ahead markets</a:t>
            </a:r>
            <a:r>
              <a:rPr lang="en-US" sz="1400" dirty="0"/>
              <a:t>: compute an allocation and prices for the next day</a:t>
            </a:r>
          </a:p>
          <a:p>
            <a:pPr lvl="1" indent="0">
              <a:buNone/>
            </a:pPr>
            <a:endParaRPr lang="en-US" sz="1400" dirty="0"/>
          </a:p>
          <a:p>
            <a:pPr lvl="1" indent="0">
              <a:buNone/>
            </a:pPr>
            <a:r>
              <a:rPr lang="en-US" sz="1400" dirty="0"/>
              <a:t>Two challenges:</a:t>
            </a:r>
          </a:p>
          <a:p>
            <a:pPr lvl="1" indent="0">
              <a:buNone/>
            </a:pPr>
            <a:endParaRPr lang="en-US" sz="1400" dirty="0"/>
          </a:p>
          <a:p>
            <a:pPr lvl="1" indent="0">
              <a:buNone/>
            </a:pP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   </a:t>
            </a:r>
            <a:r>
              <a:rPr lang="de-DE" sz="1400" dirty="0"/>
              <a:t>I. </a:t>
            </a:r>
            <a:r>
              <a:rPr lang="en-US" sz="1400" dirty="0"/>
              <a:t>Identifying an </a:t>
            </a:r>
            <a:r>
              <a:rPr lang="en-US" sz="1400" b="1" dirty="0">
                <a:solidFill>
                  <a:srgbClr val="0070C0"/>
                </a:solidFill>
              </a:rPr>
              <a:t>optimal</a:t>
            </a:r>
            <a:r>
              <a:rPr lang="en-US" sz="1400" dirty="0"/>
              <a:t> allocation is</a:t>
            </a:r>
            <a:r>
              <a:rPr lang="en-US" sz="1400" b="1" dirty="0">
                <a:solidFill>
                  <a:schemeClr val="tx2"/>
                </a:solidFill>
              </a:rPr>
              <a:t> </a:t>
            </a:r>
            <a:r>
              <a:rPr lang="en-US" sz="1400" b="1" dirty="0">
                <a:solidFill>
                  <a:srgbClr val="0070C0"/>
                </a:solidFill>
              </a:rPr>
              <a:t>NP-hard</a:t>
            </a:r>
            <a:r>
              <a:rPr lang="en-US" sz="1400" dirty="0"/>
              <a:t>.                </a:t>
            </a: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z="3000" dirty="0"/>
              <a:t>Pricing in non-convex </a:t>
            </a:r>
            <a:r>
              <a:rPr lang="en-US" dirty="0"/>
              <a:t>m</a:t>
            </a:r>
            <a:r>
              <a:rPr lang="en-US" sz="3000" dirty="0"/>
              <a:t>arkets</a:t>
            </a:r>
            <a:endParaRPr lang="de-DE" sz="3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0A2CC0-F09D-8605-3973-B3C711A18CC0}"/>
              </a:ext>
            </a:extLst>
          </p:cNvPr>
          <p:cNvSpPr txBox="1"/>
          <p:nvPr/>
        </p:nvSpPr>
        <p:spPr>
          <a:xfrm>
            <a:off x="5168348" y="4111974"/>
            <a:ext cx="37569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endParaRPr lang="de-DE" sz="1400" dirty="0"/>
          </a:p>
          <a:p>
            <a:pPr marL="285750" indent="-285750">
              <a:buFont typeface="Wingdings" pitchFamily="2" charset="2"/>
              <a:buChar char="Ø"/>
            </a:pPr>
            <a:endParaRPr lang="de-DE" sz="1400" dirty="0"/>
          </a:p>
          <a:p>
            <a:pPr marL="285750" indent="-285750">
              <a:buFont typeface="Wingdings" pitchFamily="2" charset="2"/>
              <a:buChar char="Ø"/>
            </a:pPr>
            <a:r>
              <a:rPr lang="de-DE" sz="1400" dirty="0" err="1"/>
              <a:t>Desirable</a:t>
            </a:r>
            <a:r>
              <a:rPr lang="de-DE" sz="1400" dirty="0"/>
              <a:t> </a:t>
            </a:r>
            <a:r>
              <a:rPr lang="de-DE" sz="1400" dirty="0" err="1"/>
              <a:t>properties</a:t>
            </a:r>
            <a:endParaRPr lang="de-DE" sz="1400" dirty="0"/>
          </a:p>
          <a:p>
            <a:endParaRPr lang="de-DE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E4DBBE-3EFE-D1D2-C8C1-BDAA1B692CEC}"/>
              </a:ext>
            </a:extLst>
          </p:cNvPr>
          <p:cNvSpPr txBox="1"/>
          <p:nvPr/>
        </p:nvSpPr>
        <p:spPr>
          <a:xfrm>
            <a:off x="972000" y="5436357"/>
            <a:ext cx="7200000" cy="605166"/>
          </a:xfrm>
          <a:prstGeom prst="rect">
            <a:avLst/>
          </a:prstGeom>
          <a:solidFill>
            <a:srgbClr val="0070C0"/>
          </a:solidFill>
          <a:ln w="34925">
            <a:solidFill>
              <a:srgbClr val="0070C0"/>
            </a:solidFill>
          </a:ln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DE" dirty="0">
                <a:solidFill>
                  <a:schemeClr val="bg1"/>
                </a:solidFill>
                <a:latin typeface="+mn-lt"/>
              </a:rPr>
              <a:t>Can we </a:t>
            </a:r>
            <a:r>
              <a:rPr lang="en-DE" u="sng" dirty="0">
                <a:solidFill>
                  <a:schemeClr val="bg1"/>
                </a:solidFill>
                <a:latin typeface="+mn-lt"/>
              </a:rPr>
              <a:t>efficiently</a:t>
            </a:r>
            <a:r>
              <a:rPr lang="en-DE" dirty="0">
                <a:solidFill>
                  <a:schemeClr val="bg1"/>
                </a:solidFill>
                <a:latin typeface="+mn-lt"/>
              </a:rPr>
              <a:t> find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 a </a:t>
            </a:r>
            <a:r>
              <a:rPr lang="en-US" u="sng" dirty="0">
                <a:solidFill>
                  <a:schemeClr val="bg1"/>
                </a:solidFill>
                <a:latin typeface="+mn-lt"/>
              </a:rPr>
              <a:t>near-optimal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 allocation and prices</a:t>
            </a:r>
          </a:p>
          <a:p>
            <a:pPr algn="ctr">
              <a:lnSpc>
                <a:spcPct val="114000"/>
              </a:lnSpc>
            </a:pPr>
            <a:r>
              <a:rPr lang="en-DE" dirty="0">
                <a:solidFill>
                  <a:schemeClr val="bg1"/>
                </a:solidFill>
                <a:latin typeface="+mn-lt"/>
              </a:rPr>
              <a:t> that satisf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y</a:t>
            </a:r>
            <a:r>
              <a:rPr lang="en-DE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budget balance</a:t>
            </a:r>
            <a:r>
              <a:rPr lang="en-DE" dirty="0">
                <a:solidFill>
                  <a:schemeClr val="bg1"/>
                </a:solidFill>
                <a:latin typeface="+mn-lt"/>
              </a:rPr>
              <a:t>?</a:t>
            </a:r>
          </a:p>
        </p:txBody>
      </p:sp>
      <p:pic>
        <p:nvPicPr>
          <p:cNvPr id="9" name="Graphic 8" descr="Hourglass 30% with solid fill">
            <a:extLst>
              <a:ext uri="{FF2B5EF4-FFF2-40B4-BE49-F238E27FC236}">
                <a16:creationId xmlns:a16="http://schemas.microsoft.com/office/drawing/2014/main" id="{E3CD4A30-1722-7C5C-4464-06560602CD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04415" y="3271533"/>
            <a:ext cx="621587" cy="621587"/>
          </a:xfrm>
          <a:prstGeom prst="rect">
            <a:avLst/>
          </a:prstGeom>
        </p:spPr>
      </p:pic>
      <p:pic>
        <p:nvPicPr>
          <p:cNvPr id="10" name="Graphic 9" descr="Scales of justice with solid fill">
            <a:extLst>
              <a:ext uri="{FF2B5EF4-FFF2-40B4-BE49-F238E27FC236}">
                <a16:creationId xmlns:a16="http://schemas.microsoft.com/office/drawing/2014/main" id="{A1DD58F5-25A2-4C11-E17A-6E9AEB78CE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18986" y="3229454"/>
            <a:ext cx="703778" cy="70377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040A99D-56E1-5F53-D7F9-0B5DBFAA568B}"/>
              </a:ext>
            </a:extLst>
          </p:cNvPr>
          <p:cNvSpPr txBox="1"/>
          <p:nvPr/>
        </p:nvSpPr>
        <p:spPr>
          <a:xfrm>
            <a:off x="646044" y="4111974"/>
            <a:ext cx="353833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endParaRPr lang="de-DE" sz="1400" dirty="0"/>
          </a:p>
          <a:p>
            <a:pPr marL="285750" indent="-285750">
              <a:buFont typeface="Wingdings" pitchFamily="2" charset="2"/>
              <a:buChar char="Ø"/>
            </a:pPr>
            <a:endParaRPr lang="de-DE" sz="1400" dirty="0"/>
          </a:p>
          <a:p>
            <a:pPr marL="285750" indent="-285750">
              <a:buFont typeface="Wingdings" pitchFamily="2" charset="2"/>
              <a:buChar char="Ø"/>
            </a:pPr>
            <a:r>
              <a:rPr lang="de-DE" sz="1400" dirty="0" err="1"/>
              <a:t>Scalability</a:t>
            </a:r>
            <a:r>
              <a:rPr lang="de-DE" sz="1400" dirty="0"/>
              <a:t> </a:t>
            </a:r>
            <a:r>
              <a:rPr lang="de-DE" sz="1400" dirty="0" err="1"/>
              <a:t>issues</a:t>
            </a:r>
            <a:r>
              <a:rPr lang="de-DE" sz="1400" b="1" dirty="0"/>
              <a:t>   </a:t>
            </a:r>
            <a:endParaRPr lang="de-DE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0E88A5-504D-BD68-EF6A-9AF47AEDB10E}"/>
              </a:ext>
            </a:extLst>
          </p:cNvPr>
          <p:cNvSpPr txBox="1"/>
          <p:nvPr/>
        </p:nvSpPr>
        <p:spPr>
          <a:xfrm>
            <a:off x="4959628" y="3962573"/>
            <a:ext cx="3962367" cy="47064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400" dirty="0"/>
              <a:t>II.</a:t>
            </a:r>
            <a:r>
              <a:rPr lang="de-DE" sz="1400" b="1" dirty="0"/>
              <a:t> </a:t>
            </a:r>
            <a:r>
              <a:rPr lang="de-DE" sz="1400" b="1" dirty="0" err="1">
                <a:solidFill>
                  <a:srgbClr val="0070C0"/>
                </a:solidFill>
              </a:rPr>
              <a:t>Walrasian</a:t>
            </a:r>
            <a:r>
              <a:rPr lang="de-DE" sz="1400" b="1" dirty="0">
                <a:solidFill>
                  <a:srgbClr val="0070C0"/>
                </a:solidFill>
              </a:rPr>
              <a:t> </a:t>
            </a:r>
            <a:r>
              <a:rPr lang="de-DE" sz="1400" b="1" dirty="0" err="1">
                <a:solidFill>
                  <a:srgbClr val="0070C0"/>
                </a:solidFill>
              </a:rPr>
              <a:t>equilibria</a:t>
            </a:r>
            <a:r>
              <a:rPr lang="de-DE" sz="1400" b="1" dirty="0">
                <a:solidFill>
                  <a:srgbClr val="0070C0"/>
                </a:solidFill>
              </a:rPr>
              <a:t> (</a:t>
            </a:r>
            <a:r>
              <a:rPr lang="de-DE" sz="1400" b="1" dirty="0" err="1">
                <a:solidFill>
                  <a:srgbClr val="0070C0"/>
                </a:solidFill>
              </a:rPr>
              <a:t>market</a:t>
            </a:r>
            <a:r>
              <a:rPr lang="de-DE" sz="1400" b="1" dirty="0">
                <a:solidFill>
                  <a:srgbClr val="0070C0"/>
                </a:solidFill>
              </a:rPr>
              <a:t>-clearing </a:t>
            </a:r>
            <a:r>
              <a:rPr lang="de-DE" sz="1400" b="1" dirty="0" err="1">
                <a:solidFill>
                  <a:srgbClr val="0070C0"/>
                </a:solidFill>
              </a:rPr>
              <a:t>prices</a:t>
            </a:r>
            <a:r>
              <a:rPr lang="de-DE" sz="1400" b="1" dirty="0">
                <a:solidFill>
                  <a:srgbClr val="0070C0"/>
                </a:solidFill>
              </a:rPr>
              <a:t>)</a:t>
            </a:r>
          </a:p>
          <a:p>
            <a:pPr>
              <a:lnSpc>
                <a:spcPct val="114000"/>
              </a:lnSpc>
            </a:pPr>
            <a:r>
              <a:rPr lang="de-DE" sz="1400" b="1" dirty="0">
                <a:solidFill>
                  <a:srgbClr val="0070C0"/>
                </a:solidFill>
              </a:rPr>
              <a:t> </a:t>
            </a:r>
            <a:r>
              <a:rPr lang="de-DE" sz="1400" dirty="0" err="1"/>
              <a:t>may</a:t>
            </a:r>
            <a:r>
              <a:rPr lang="de-DE" sz="1400" dirty="0"/>
              <a:t> not </a:t>
            </a:r>
            <a:r>
              <a:rPr lang="de-DE" sz="1400" dirty="0" err="1"/>
              <a:t>exist</a:t>
            </a:r>
            <a:r>
              <a:rPr lang="de-DE" sz="1400" dirty="0"/>
              <a:t>.</a:t>
            </a:r>
            <a:endParaRPr lang="en-US" sz="1400" dirty="0" err="1"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12C251-5C1C-14F4-9F1D-E6ED62ABF0B0}"/>
              </a:ext>
            </a:extLst>
          </p:cNvPr>
          <p:cNvSpPr/>
          <p:nvPr/>
        </p:nvSpPr>
        <p:spPr>
          <a:xfrm>
            <a:off x="2979423" y="3147183"/>
            <a:ext cx="3185154" cy="138499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  <a:p>
            <a:pPr algn="ctr">
              <a:lnSpc>
                <a:spcPct val="114000"/>
              </a:lnSpc>
            </a:pPr>
            <a:r>
              <a:rPr lang="en-US" dirty="0"/>
              <a:t>Yes, with the </a:t>
            </a:r>
            <a:r>
              <a:rPr lang="en-US" b="1" i="1" dirty="0">
                <a:solidFill>
                  <a:schemeClr val="bg1"/>
                </a:solidFill>
              </a:rPr>
              <a:t>markup mechanism</a:t>
            </a:r>
            <a:r>
              <a:rPr lang="en-US" dirty="0">
                <a:solidFill>
                  <a:schemeClr val="bg1"/>
                </a:solidFill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444773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5F939E-AF1A-C27E-2984-5396B2E68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/>
                </a:solidFill>
              </a:rPr>
              <a:t>Electricity market model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Welfare maximization &amp; pricing problems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Markup mechanism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Evaluation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FontTx/>
              <a:buAutoNum type="arabicPeriod"/>
            </a:pPr>
            <a:r>
              <a:rPr lang="en-US" dirty="0"/>
              <a:t>Conclusions 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de-D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4EA9B5-547C-2365-920B-4E6113D74D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3E6C020-B9E9-2BC0-448C-CA52FA602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de-DE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2E54CE0F-6CCD-810B-CE95-9E71E32BC32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1162" y="6473313"/>
            <a:ext cx="7512802" cy="365125"/>
          </a:xfrm>
        </p:spPr>
        <p:txBody>
          <a:bodyPr/>
          <a:lstStyle/>
          <a:p>
            <a:r>
              <a:rPr lang="en-US" sz="1000" dirty="0"/>
              <a:t>Solving Large-Scale Electricity Market Pricing Problems in Polynomial Time | </a:t>
            </a:r>
            <a:r>
              <a:rPr lang="en-US" sz="1000" dirty="0" err="1"/>
              <a:t>Ahunbay</a:t>
            </a:r>
            <a:r>
              <a:rPr lang="en-US" sz="1000" dirty="0"/>
              <a:t>, </a:t>
            </a:r>
            <a:r>
              <a:rPr lang="en-US" sz="1000" dirty="0" err="1"/>
              <a:t>Bichler</a:t>
            </a:r>
            <a:r>
              <a:rPr lang="en-US" sz="1000" dirty="0"/>
              <a:t>, Dobos, </a:t>
            </a:r>
            <a:r>
              <a:rPr lang="en-US" sz="1000" dirty="0" err="1"/>
              <a:t>Kn</a:t>
            </a:r>
            <a:r>
              <a:rPr lang="de-DE" sz="1000" dirty="0" err="1"/>
              <a:t>örr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08089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Transmission network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 err="1"/>
              <a:t>Periods</a:t>
            </a:r>
            <a:r>
              <a:rPr lang="de-DE" sz="1400" dirty="0"/>
              <a:t> (24 </a:t>
            </a:r>
            <a:r>
              <a:rPr lang="de-DE" sz="1400" dirty="0" err="1"/>
              <a:t>hours</a:t>
            </a:r>
            <a:r>
              <a:rPr lang="de-DE" sz="1400" dirty="0"/>
              <a:t>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Electricity market model</a:t>
            </a:r>
            <a:endParaRPr lang="de-DE" sz="3000" dirty="0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A53D874B-7CE1-131C-2568-FF2A3A7478C8}"/>
              </a:ext>
            </a:extLst>
          </p:cNvPr>
          <p:cNvSpPr/>
          <p:nvPr/>
        </p:nvSpPr>
        <p:spPr>
          <a:xfrm>
            <a:off x="2491226" y="1797250"/>
            <a:ext cx="45719" cy="46314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F409F1-1E19-2176-E6BD-6AE3C7B39C7F}"/>
              </a:ext>
            </a:extLst>
          </p:cNvPr>
          <p:cNvSpPr txBox="1"/>
          <p:nvPr/>
        </p:nvSpPr>
        <p:spPr>
          <a:xfrm>
            <a:off x="2697288" y="1916293"/>
            <a:ext cx="3749424" cy="22506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DE" sz="1400" dirty="0">
                <a:latin typeface="+mn-lt"/>
              </a:rPr>
              <a:t>Goods: electricity at each </a:t>
            </a:r>
            <a:r>
              <a:rPr lang="en-US" sz="1400" dirty="0">
                <a:latin typeface="+mn-lt"/>
              </a:rPr>
              <a:t>node </a:t>
            </a:r>
            <a:r>
              <a:rPr lang="en-DE" sz="1400" dirty="0">
                <a:latin typeface="+mn-lt"/>
              </a:rPr>
              <a:t>for every</a:t>
            </a:r>
            <a:r>
              <a:rPr lang="en-US" sz="1400" dirty="0">
                <a:latin typeface="+mn-lt"/>
              </a:rPr>
              <a:t> period</a:t>
            </a:r>
            <a:endParaRPr lang="en-DE" sz="1400" dirty="0" err="1">
              <a:latin typeface="+mn-lt"/>
            </a:endParaRP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E4F794A8-1E89-7463-C3BD-F1131CB885F3}"/>
              </a:ext>
            </a:extLst>
          </p:cNvPr>
          <p:cNvSpPr/>
          <p:nvPr/>
        </p:nvSpPr>
        <p:spPr>
          <a:xfrm>
            <a:off x="7200900" y="3471111"/>
            <a:ext cx="378995" cy="360947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AF242A7E-0762-C102-0D40-8274A3187AAC}"/>
              </a:ext>
            </a:extLst>
          </p:cNvPr>
          <p:cNvSpPr/>
          <p:nvPr/>
        </p:nvSpPr>
        <p:spPr>
          <a:xfrm>
            <a:off x="6774933" y="4212203"/>
            <a:ext cx="378995" cy="360947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EA5B990-9E66-1520-E2A5-AB527C146806}"/>
              </a:ext>
            </a:extLst>
          </p:cNvPr>
          <p:cNvSpPr/>
          <p:nvPr/>
        </p:nvSpPr>
        <p:spPr>
          <a:xfrm>
            <a:off x="8182936" y="4031729"/>
            <a:ext cx="378995" cy="360947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25129795-F2F2-00C5-884C-9833D1973164}"/>
              </a:ext>
            </a:extLst>
          </p:cNvPr>
          <p:cNvSpPr/>
          <p:nvPr/>
        </p:nvSpPr>
        <p:spPr>
          <a:xfrm>
            <a:off x="6585436" y="2639903"/>
            <a:ext cx="378995" cy="360947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sz="1400" i="1" dirty="0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EC2B7EB0-0761-AA0D-3D46-B71D7AF7D31C}"/>
              </a:ext>
            </a:extLst>
          </p:cNvPr>
          <p:cNvSpPr/>
          <p:nvPr/>
        </p:nvSpPr>
        <p:spPr>
          <a:xfrm>
            <a:off x="8042262" y="3068053"/>
            <a:ext cx="378995" cy="360947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26E4261-8082-4289-D6A5-9B396E2968B2}"/>
              </a:ext>
            </a:extLst>
          </p:cNvPr>
          <p:cNvCxnSpPr>
            <a:stCxn id="10" idx="5"/>
            <a:endCxn id="6" idx="1"/>
          </p:cNvCxnSpPr>
          <p:nvPr/>
        </p:nvCxnSpPr>
        <p:spPr>
          <a:xfrm>
            <a:off x="6908928" y="2947991"/>
            <a:ext cx="347475" cy="5759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EC628F9-A9FF-209A-A1DC-A909D9A59E4E}"/>
              </a:ext>
            </a:extLst>
          </p:cNvPr>
          <p:cNvCxnSpPr>
            <a:cxnSpLocks/>
            <a:stCxn id="6" idx="3"/>
            <a:endCxn id="8" idx="0"/>
          </p:cNvCxnSpPr>
          <p:nvPr/>
        </p:nvCxnSpPr>
        <p:spPr>
          <a:xfrm flipH="1">
            <a:off x="6964431" y="3779199"/>
            <a:ext cx="291972" cy="4330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E79A13A-9D5F-5C1D-CFB7-EAE1D0D7447A}"/>
              </a:ext>
            </a:extLst>
          </p:cNvPr>
          <p:cNvCxnSpPr>
            <a:cxnSpLocks/>
            <a:stCxn id="11" idx="3"/>
          </p:cNvCxnSpPr>
          <p:nvPr/>
        </p:nvCxnSpPr>
        <p:spPr>
          <a:xfrm flipH="1">
            <a:off x="7567864" y="3376141"/>
            <a:ext cx="529901" cy="1988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8508AA1-FFC1-DEF2-B01F-D925F4FBC720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7539237" y="3743739"/>
            <a:ext cx="699202" cy="3408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2A385EA-061D-305D-657D-539FA6DFB0EF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6946424" y="2780063"/>
            <a:ext cx="1151341" cy="3408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0A83476-E496-0F79-1874-DECCCAB66ABA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8365542" y="3363594"/>
            <a:ext cx="6892" cy="6681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796D707-702D-DE2C-74CD-B458F5AE1B09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6705012" y="2990228"/>
            <a:ext cx="125424" cy="12748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A19B559-5D98-27DD-7D7D-5799605D3885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7153928" y="4212203"/>
            <a:ext cx="1029008" cy="1804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56E15F6D-C29D-CB0E-8DDC-C4D4B31055B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1162" y="6473313"/>
            <a:ext cx="7512802" cy="365125"/>
          </a:xfrm>
        </p:spPr>
        <p:txBody>
          <a:bodyPr/>
          <a:lstStyle/>
          <a:p>
            <a:r>
              <a:rPr lang="en-US" sz="1000" dirty="0"/>
              <a:t>Solving Large-Scale Electricity Market Pricing Problems in Polynomial Time | </a:t>
            </a:r>
            <a:r>
              <a:rPr lang="en-US" sz="1000" dirty="0" err="1"/>
              <a:t>Ahunbay</a:t>
            </a:r>
            <a:r>
              <a:rPr lang="en-US" sz="1000" dirty="0"/>
              <a:t>, </a:t>
            </a:r>
            <a:r>
              <a:rPr lang="en-US" sz="1000" dirty="0" err="1"/>
              <a:t>Bichler</a:t>
            </a:r>
            <a:r>
              <a:rPr lang="en-US" sz="1000" dirty="0"/>
              <a:t>, Dobos, </a:t>
            </a:r>
            <a:r>
              <a:rPr lang="en-US" sz="1000" dirty="0" err="1"/>
              <a:t>Kn</a:t>
            </a:r>
            <a:r>
              <a:rPr lang="de-DE" sz="1000" dirty="0" err="1"/>
              <a:t>örr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71489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Inhaltsplatzhalt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400" dirty="0"/>
                  <a:t>Transmission network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400" dirty="0" err="1"/>
                  <a:t>Periods</a:t>
                </a:r>
                <a:r>
                  <a:rPr lang="de-DE" sz="1400" dirty="0"/>
                  <a:t> (24 </a:t>
                </a:r>
                <a:r>
                  <a:rPr lang="de-DE" sz="1400" dirty="0" err="1"/>
                  <a:t>hours</a:t>
                </a:r>
                <a:r>
                  <a:rPr lang="de-DE" sz="1400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e-DE" sz="1400" dirty="0"/>
              </a:p>
              <a:p>
                <a:pPr marL="342900" indent="-342900">
                  <a:buAutoNum type="arabicPeriod"/>
                </a:pPr>
                <a:r>
                  <a:rPr lang="de-DE" sz="1400" dirty="0"/>
                  <a:t>Set </a:t>
                </a:r>
                <a:r>
                  <a:rPr lang="de-DE" sz="1400" dirty="0" err="1"/>
                  <a:t>of</a:t>
                </a:r>
                <a:r>
                  <a:rPr lang="de-DE" sz="1400" dirty="0"/>
                  <a:t> </a:t>
                </a:r>
                <a:r>
                  <a:rPr lang="de-DE" sz="1400" dirty="0" err="1"/>
                  <a:t>sellers</a:t>
                </a:r>
                <a:r>
                  <a:rPr lang="de-DE" sz="1400" dirty="0"/>
                  <a:t>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1400" b="0" dirty="0"/>
              </a:p>
              <a:p>
                <a:pPr marL="519113" lvl="1" indent="-342900">
                  <a:buFont typeface="Symbol" panose="05050102010706020507" pitchFamily="18" charset="2"/>
                  <a:buChar char="-"/>
                </a:pPr>
                <a:r>
                  <a:rPr lang="en-US" sz="1400" dirty="0"/>
                  <a:t>production constraints (min-uptime, no-load cost, etc.)</a:t>
                </a:r>
                <a:endParaRPr lang="en-US" sz="1400" b="0" dirty="0"/>
              </a:p>
              <a:p>
                <a:pPr marL="519113" lvl="1" indent="-342900">
                  <a:buFont typeface="Symbol" panose="05050102010706020507" pitchFamily="18" charset="2"/>
                  <a:buChar char="-"/>
                </a:pPr>
                <a:r>
                  <a:rPr lang="de-DE" sz="1400" dirty="0" err="1"/>
                  <a:t>supply</a:t>
                </a:r>
                <a:r>
                  <a:rPr lang="de-DE" sz="1400" dirty="0"/>
                  <a:t> </a:t>
                </a:r>
                <a:r>
                  <a:rPr lang="de-DE" sz="1400" dirty="0" err="1"/>
                  <a:t>bids</a:t>
                </a:r>
                <a:r>
                  <a:rPr lang="de-DE" sz="1400" dirty="0"/>
                  <a:t>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de-DE" sz="1400" dirty="0"/>
                  <a:t> </a:t>
                </a:r>
                <a:r>
                  <a:rPr lang="de-DE" sz="1400" dirty="0" err="1"/>
                  <a:t>cost</a:t>
                </a:r>
                <a:r>
                  <a:rPr lang="de-DE" sz="1400" dirty="0"/>
                  <a:t> </a:t>
                </a:r>
                <a:r>
                  <a:rPr lang="de-DE" sz="1400" dirty="0" err="1"/>
                  <a:t>function</a:t>
                </a:r>
                <a:endParaRPr lang="de-DE" sz="1400" dirty="0"/>
              </a:p>
            </p:txBody>
          </p:sp>
        </mc:Choice>
        <mc:Fallback>
          <p:sp>
            <p:nvSpPr>
              <p:cNvPr id="2" name="Inhaltsplatzhalt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90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Electricity market model</a:t>
            </a:r>
            <a:endParaRPr lang="de-DE" sz="3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2DF7A74-E584-0FE8-2DC0-D893BECFC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474" y="3429000"/>
            <a:ext cx="2546569" cy="2468079"/>
          </a:xfrm>
          <a:prstGeom prst="rect">
            <a:avLst/>
          </a:prstGeom>
        </p:spPr>
      </p:pic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896B2CA3-7E87-A3B2-D224-E4D78336EAD3}"/>
              </a:ext>
            </a:extLst>
          </p:cNvPr>
          <p:cNvSpPr/>
          <p:nvPr/>
        </p:nvSpPr>
        <p:spPr>
          <a:xfrm>
            <a:off x="7200900" y="3471111"/>
            <a:ext cx="378995" cy="360947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504CD2FD-9A03-010C-0F02-21D264340388}"/>
              </a:ext>
            </a:extLst>
          </p:cNvPr>
          <p:cNvSpPr/>
          <p:nvPr/>
        </p:nvSpPr>
        <p:spPr>
          <a:xfrm>
            <a:off x="6774933" y="4212203"/>
            <a:ext cx="378995" cy="360947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23E090CC-9CD2-EE2E-1948-ECABD4017F09}"/>
              </a:ext>
            </a:extLst>
          </p:cNvPr>
          <p:cNvSpPr/>
          <p:nvPr/>
        </p:nvSpPr>
        <p:spPr>
          <a:xfrm>
            <a:off x="8182936" y="4031729"/>
            <a:ext cx="378995" cy="360947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C5085885-4D8B-5A63-4583-90809975E9AC}"/>
              </a:ext>
            </a:extLst>
          </p:cNvPr>
          <p:cNvSpPr/>
          <p:nvPr/>
        </p:nvSpPr>
        <p:spPr>
          <a:xfrm>
            <a:off x="6585436" y="2639903"/>
            <a:ext cx="378995" cy="360947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C68475C2-52D5-842D-3C65-08C8DFD911A2}"/>
              </a:ext>
            </a:extLst>
          </p:cNvPr>
          <p:cNvSpPr/>
          <p:nvPr/>
        </p:nvSpPr>
        <p:spPr>
          <a:xfrm>
            <a:off x="8042262" y="3068053"/>
            <a:ext cx="378995" cy="360947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F0EC716-CE77-5C5E-D8EC-9A874A537F57}"/>
              </a:ext>
            </a:extLst>
          </p:cNvPr>
          <p:cNvCxnSpPr>
            <a:stCxn id="19" idx="5"/>
            <a:endCxn id="16" idx="1"/>
          </p:cNvCxnSpPr>
          <p:nvPr/>
        </p:nvCxnSpPr>
        <p:spPr>
          <a:xfrm>
            <a:off x="6908928" y="2947991"/>
            <a:ext cx="347475" cy="5759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F9F2BB7-CA43-EE06-D40B-7BEE5408324A}"/>
              </a:ext>
            </a:extLst>
          </p:cNvPr>
          <p:cNvCxnSpPr>
            <a:cxnSpLocks/>
            <a:stCxn id="16" idx="3"/>
            <a:endCxn id="17" idx="0"/>
          </p:cNvCxnSpPr>
          <p:nvPr/>
        </p:nvCxnSpPr>
        <p:spPr>
          <a:xfrm flipH="1">
            <a:off x="6964431" y="3779199"/>
            <a:ext cx="291972" cy="4330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D3BCA87-82A7-6E4E-AA7B-4DC0AE5353E3}"/>
              </a:ext>
            </a:extLst>
          </p:cNvPr>
          <p:cNvCxnSpPr>
            <a:cxnSpLocks/>
            <a:stCxn id="21" idx="3"/>
          </p:cNvCxnSpPr>
          <p:nvPr/>
        </p:nvCxnSpPr>
        <p:spPr>
          <a:xfrm flipH="1">
            <a:off x="7567864" y="3376141"/>
            <a:ext cx="529901" cy="1988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9CA55E7-E86B-D44A-9190-5409B10684E6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7539237" y="3743739"/>
            <a:ext cx="699202" cy="3408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59D04DC-775A-9F99-3CE2-59A02350C9EB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6946424" y="2780063"/>
            <a:ext cx="1151341" cy="3408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0F13148-960C-5B8F-6BB4-77A9F544525A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8365542" y="3363594"/>
            <a:ext cx="6892" cy="6681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8CD02E4-213F-AA32-8193-E89106C3E013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6705012" y="2990228"/>
            <a:ext cx="125424" cy="12748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D602894-F1DF-FAE5-9FE9-7C0B728BB91E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7153928" y="4212203"/>
            <a:ext cx="1029008" cy="1804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Graphic 33" descr="Wind Turbines with solid fill">
            <a:extLst>
              <a:ext uri="{FF2B5EF4-FFF2-40B4-BE49-F238E27FC236}">
                <a16:creationId xmlns:a16="http://schemas.microsoft.com/office/drawing/2014/main" id="{AFCEAC92-B4F2-FD76-BC3B-A2AB6FCBC4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4962" y="2590890"/>
            <a:ext cx="421680" cy="421680"/>
          </a:xfrm>
          <a:prstGeom prst="rect">
            <a:avLst/>
          </a:prstGeom>
        </p:spPr>
      </p:pic>
      <p:pic>
        <p:nvPicPr>
          <p:cNvPr id="35" name="Graphic 34" descr="Power Plant with solid fill">
            <a:extLst>
              <a:ext uri="{FF2B5EF4-FFF2-40B4-BE49-F238E27FC236}">
                <a16:creationId xmlns:a16="http://schemas.microsoft.com/office/drawing/2014/main" id="{0D133B66-8E52-83B9-9560-005B793594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31435" y="3071824"/>
            <a:ext cx="360694" cy="360694"/>
          </a:xfrm>
          <a:prstGeom prst="rect">
            <a:avLst/>
          </a:prstGeom>
        </p:spPr>
      </p:pic>
      <p:pic>
        <p:nvPicPr>
          <p:cNvPr id="36" name="Graphic 35" descr="Power Plant with solid fill">
            <a:extLst>
              <a:ext uri="{FF2B5EF4-FFF2-40B4-BE49-F238E27FC236}">
                <a16:creationId xmlns:a16="http://schemas.microsoft.com/office/drawing/2014/main" id="{080FD41C-916C-4C60-39C7-F957A4E997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74152" y="2351528"/>
            <a:ext cx="360694" cy="360694"/>
          </a:xfrm>
          <a:prstGeom prst="rect">
            <a:avLst/>
          </a:prstGeom>
        </p:spPr>
      </p:pic>
      <p:pic>
        <p:nvPicPr>
          <p:cNvPr id="37" name="Graphic 36" descr="Wind Turbines with solid fill">
            <a:extLst>
              <a:ext uri="{FF2B5EF4-FFF2-40B4-BE49-F238E27FC236}">
                <a16:creationId xmlns:a16="http://schemas.microsoft.com/office/drawing/2014/main" id="{A0FECC7B-38B9-1656-2C1F-7EE2DD0AF8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2426" y="4011566"/>
            <a:ext cx="421680" cy="421680"/>
          </a:xfrm>
          <a:prstGeom prst="rect">
            <a:avLst/>
          </a:prstGeom>
        </p:spPr>
      </p:pic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BD6733B0-A0CB-078C-7B21-4FA541F0C57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1162" y="6473313"/>
            <a:ext cx="7512802" cy="365125"/>
          </a:xfrm>
        </p:spPr>
        <p:txBody>
          <a:bodyPr/>
          <a:lstStyle/>
          <a:p>
            <a:r>
              <a:rPr lang="en-US" sz="1000" dirty="0"/>
              <a:t>Solving Large-Scale Electricity Market Pricing Problems in Polynomial Time | </a:t>
            </a:r>
            <a:r>
              <a:rPr lang="en-US" sz="1000" dirty="0" err="1"/>
              <a:t>Ahunbay</a:t>
            </a:r>
            <a:r>
              <a:rPr lang="en-US" sz="1000" dirty="0"/>
              <a:t>, </a:t>
            </a:r>
            <a:r>
              <a:rPr lang="en-US" sz="1000" dirty="0" err="1"/>
              <a:t>Bichler</a:t>
            </a:r>
            <a:r>
              <a:rPr lang="en-US" sz="1000" dirty="0"/>
              <a:t>, Dobos, </a:t>
            </a:r>
            <a:r>
              <a:rPr lang="en-US" sz="1000" dirty="0" err="1"/>
              <a:t>Kn</a:t>
            </a:r>
            <a:r>
              <a:rPr lang="de-DE" sz="1000" dirty="0" err="1"/>
              <a:t>örr</a:t>
            </a:r>
            <a:endParaRPr lang="en-US" sz="1000" dirty="0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7DFE0DAE-90BE-F8FD-6CBD-088481B579AB}"/>
              </a:ext>
            </a:extLst>
          </p:cNvPr>
          <p:cNvSpPr/>
          <p:nvPr/>
        </p:nvSpPr>
        <p:spPr>
          <a:xfrm>
            <a:off x="2491226" y="1797250"/>
            <a:ext cx="45719" cy="46314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B1F32F-2D28-D3EA-00AD-D251E6678355}"/>
              </a:ext>
            </a:extLst>
          </p:cNvPr>
          <p:cNvSpPr txBox="1"/>
          <p:nvPr/>
        </p:nvSpPr>
        <p:spPr>
          <a:xfrm>
            <a:off x="2697288" y="1916293"/>
            <a:ext cx="3749424" cy="22506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DE" sz="1400" dirty="0">
                <a:latin typeface="+mn-lt"/>
              </a:rPr>
              <a:t>Goods: electricity at each </a:t>
            </a:r>
            <a:r>
              <a:rPr lang="en-US" sz="1400" dirty="0">
                <a:latin typeface="+mn-lt"/>
              </a:rPr>
              <a:t>node </a:t>
            </a:r>
            <a:r>
              <a:rPr lang="en-DE" sz="1400" dirty="0">
                <a:latin typeface="+mn-lt"/>
              </a:rPr>
              <a:t>for every</a:t>
            </a:r>
            <a:r>
              <a:rPr lang="en-US" sz="1400" dirty="0">
                <a:latin typeface="+mn-lt"/>
              </a:rPr>
              <a:t> period</a:t>
            </a:r>
            <a:endParaRPr lang="en-DE" sz="1400" dirty="0" err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54566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Inhaltsplatzhalt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400" dirty="0"/>
                  <a:t>Transmission network </a:t>
                </a:r>
                <a:endParaRPr lang="en-US" sz="14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400" dirty="0" err="1"/>
                  <a:t>Periods</a:t>
                </a:r>
                <a:r>
                  <a:rPr lang="de-DE" sz="1400" dirty="0"/>
                  <a:t> (24 </a:t>
                </a:r>
                <a:r>
                  <a:rPr lang="de-DE" sz="1400" dirty="0" err="1"/>
                  <a:t>hours</a:t>
                </a:r>
                <a:r>
                  <a:rPr lang="de-DE" sz="1400" dirty="0"/>
                  <a:t>) </a:t>
                </a:r>
              </a:p>
              <a:p>
                <a:endParaRPr lang="de-DE" sz="1400" dirty="0"/>
              </a:p>
              <a:p>
                <a:pPr marL="342900" indent="-342900">
                  <a:buAutoNum type="arabicPeriod"/>
                </a:pPr>
                <a:r>
                  <a:rPr lang="de-DE" sz="1400" dirty="0"/>
                  <a:t>Set </a:t>
                </a:r>
                <a:r>
                  <a:rPr lang="de-DE" sz="1400" dirty="0" err="1"/>
                  <a:t>of</a:t>
                </a:r>
                <a:r>
                  <a:rPr lang="de-DE" sz="1400" dirty="0"/>
                  <a:t> </a:t>
                </a:r>
                <a:r>
                  <a:rPr lang="de-DE" sz="1400" dirty="0" err="1"/>
                  <a:t>sellers</a:t>
                </a:r>
                <a:r>
                  <a:rPr lang="de-DE" sz="1400" dirty="0"/>
                  <a:t>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1400" b="0" dirty="0"/>
              </a:p>
              <a:p>
                <a:pPr marL="342900" indent="-342900">
                  <a:buAutoNum type="arabicPeriod"/>
                </a:pPr>
                <a:r>
                  <a:rPr lang="de-DE" sz="1400" dirty="0"/>
                  <a:t>Set </a:t>
                </a:r>
                <a:r>
                  <a:rPr lang="de-DE" sz="1400" dirty="0" err="1"/>
                  <a:t>of</a:t>
                </a:r>
                <a:r>
                  <a:rPr lang="de-DE" sz="1400" dirty="0"/>
                  <a:t> </a:t>
                </a:r>
                <a:r>
                  <a:rPr lang="de-DE" sz="1400" dirty="0" err="1"/>
                  <a:t>buyers</a:t>
                </a:r>
                <a:r>
                  <a:rPr lang="de-DE" sz="1400" dirty="0"/>
                  <a:t>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de-DE" sz="1400" dirty="0"/>
              </a:p>
              <a:p>
                <a:pPr marL="519113" lvl="1" indent="-342900">
                  <a:buFont typeface="Symbol" panose="05050102010706020507" pitchFamily="18" charset="2"/>
                  <a:buChar char="-"/>
                </a:pPr>
                <a:r>
                  <a:rPr lang="de-DE" sz="1400" dirty="0" err="1"/>
                  <a:t>price-inelastic</a:t>
                </a:r>
                <a:r>
                  <a:rPr lang="de-DE" sz="1400" dirty="0"/>
                  <a:t> </a:t>
                </a:r>
                <a:r>
                  <a:rPr lang="de-DE" sz="1400" dirty="0" err="1"/>
                  <a:t>demand</a:t>
                </a:r>
                <a:endParaRPr lang="en-US" sz="1400" b="0" dirty="0"/>
              </a:p>
              <a:p>
                <a:pPr marL="519113" lvl="1" indent="-342900">
                  <a:buFont typeface="Symbol" panose="05050102010706020507" pitchFamily="18" charset="2"/>
                  <a:buChar char="-"/>
                </a:pPr>
                <a:r>
                  <a:rPr lang="en-US" sz="1400" b="0" dirty="0"/>
                  <a:t>price-elastic demand bids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de-DE" sz="1400" dirty="0"/>
                  <a:t> </a:t>
                </a:r>
                <a:r>
                  <a:rPr lang="de-DE" sz="1400" dirty="0" err="1"/>
                  <a:t>valuation</a:t>
                </a:r>
                <a:r>
                  <a:rPr lang="de-DE" sz="1400" dirty="0"/>
                  <a:t> </a:t>
                </a:r>
                <a:r>
                  <a:rPr lang="de-DE" sz="1400" dirty="0" err="1"/>
                  <a:t>function</a:t>
                </a:r>
                <a:endParaRPr lang="de-DE" sz="1400" dirty="0"/>
              </a:p>
            </p:txBody>
          </p:sp>
        </mc:Choice>
        <mc:Fallback>
          <p:sp>
            <p:nvSpPr>
              <p:cNvPr id="2" name="Inhaltsplatzhalt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90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Electricity market model</a:t>
            </a:r>
            <a:endParaRPr lang="de-DE" sz="3000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A9F19816-4F27-6D1C-B501-00F28C99881E}"/>
              </a:ext>
            </a:extLst>
          </p:cNvPr>
          <p:cNvSpPr/>
          <p:nvPr/>
        </p:nvSpPr>
        <p:spPr>
          <a:xfrm>
            <a:off x="7200900" y="3471111"/>
            <a:ext cx="378995" cy="360947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3081DE8B-B514-3CB4-EC2E-7AC538F15ADB}"/>
              </a:ext>
            </a:extLst>
          </p:cNvPr>
          <p:cNvSpPr/>
          <p:nvPr/>
        </p:nvSpPr>
        <p:spPr>
          <a:xfrm>
            <a:off x="6774933" y="4212203"/>
            <a:ext cx="378995" cy="360947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B22F90F2-FA45-7CA5-EED3-3F631362C2CD}"/>
              </a:ext>
            </a:extLst>
          </p:cNvPr>
          <p:cNvSpPr/>
          <p:nvPr/>
        </p:nvSpPr>
        <p:spPr>
          <a:xfrm>
            <a:off x="8182936" y="4031729"/>
            <a:ext cx="378995" cy="360947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045BC598-1BEE-6F75-9F05-05B3FC72A0D0}"/>
              </a:ext>
            </a:extLst>
          </p:cNvPr>
          <p:cNvSpPr/>
          <p:nvPr/>
        </p:nvSpPr>
        <p:spPr>
          <a:xfrm>
            <a:off x="6585436" y="2639903"/>
            <a:ext cx="378995" cy="360947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5108FFB0-2266-B7CD-D970-06E45D0F8E56}"/>
              </a:ext>
            </a:extLst>
          </p:cNvPr>
          <p:cNvSpPr/>
          <p:nvPr/>
        </p:nvSpPr>
        <p:spPr>
          <a:xfrm>
            <a:off x="8042262" y="3068053"/>
            <a:ext cx="378995" cy="360947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4A5E141-7985-BCDA-3D32-FBA2C17E70B6}"/>
              </a:ext>
            </a:extLst>
          </p:cNvPr>
          <p:cNvCxnSpPr>
            <a:stCxn id="10" idx="5"/>
            <a:endCxn id="6" idx="1"/>
          </p:cNvCxnSpPr>
          <p:nvPr/>
        </p:nvCxnSpPr>
        <p:spPr>
          <a:xfrm>
            <a:off x="6908928" y="2947991"/>
            <a:ext cx="347475" cy="5759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A847DB-B765-0042-FA34-C387CA5C0FA4}"/>
              </a:ext>
            </a:extLst>
          </p:cNvPr>
          <p:cNvCxnSpPr>
            <a:cxnSpLocks/>
            <a:stCxn id="6" idx="3"/>
            <a:endCxn id="8" idx="0"/>
          </p:cNvCxnSpPr>
          <p:nvPr/>
        </p:nvCxnSpPr>
        <p:spPr>
          <a:xfrm flipH="1">
            <a:off x="6964431" y="3779199"/>
            <a:ext cx="291972" cy="4330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FA06633-9BC0-9CBC-DED3-B127FFCDB635}"/>
              </a:ext>
            </a:extLst>
          </p:cNvPr>
          <p:cNvCxnSpPr>
            <a:cxnSpLocks/>
            <a:stCxn id="11" idx="3"/>
          </p:cNvCxnSpPr>
          <p:nvPr/>
        </p:nvCxnSpPr>
        <p:spPr>
          <a:xfrm flipH="1">
            <a:off x="7567864" y="3376141"/>
            <a:ext cx="529901" cy="1988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9274259-CFF4-E316-1691-BB16B69598E9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7539237" y="3743739"/>
            <a:ext cx="699202" cy="3408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D0101E0-AB86-EAAE-FA55-CBEA3C379CEB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6946424" y="2780063"/>
            <a:ext cx="1151341" cy="3408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2BB5E2A-FC48-8D60-E2BA-33BE30061474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8365542" y="3363594"/>
            <a:ext cx="6892" cy="6681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2962269-A5BC-5FFC-41A5-9CDE395E50CC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6705012" y="2990228"/>
            <a:ext cx="125424" cy="12748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000CAC9-9911-A03A-D848-61FD487421E5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7153928" y="4212203"/>
            <a:ext cx="1029008" cy="1804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8" name="Graphic 37" descr="Wind Turbines with solid fill">
            <a:extLst>
              <a:ext uri="{FF2B5EF4-FFF2-40B4-BE49-F238E27FC236}">
                <a16:creationId xmlns:a16="http://schemas.microsoft.com/office/drawing/2014/main" id="{586ADB24-10CD-85DE-6C24-834F441FBA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04962" y="2590890"/>
            <a:ext cx="421680" cy="421680"/>
          </a:xfrm>
          <a:prstGeom prst="rect">
            <a:avLst/>
          </a:prstGeom>
        </p:spPr>
      </p:pic>
      <p:pic>
        <p:nvPicPr>
          <p:cNvPr id="39" name="Graphic 38" descr="Power Plant with solid fill">
            <a:extLst>
              <a:ext uri="{FF2B5EF4-FFF2-40B4-BE49-F238E27FC236}">
                <a16:creationId xmlns:a16="http://schemas.microsoft.com/office/drawing/2014/main" id="{3C8C0211-F0A9-469E-2C51-6E717D2AC3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31435" y="3071824"/>
            <a:ext cx="360694" cy="360694"/>
          </a:xfrm>
          <a:prstGeom prst="rect">
            <a:avLst/>
          </a:prstGeom>
        </p:spPr>
      </p:pic>
      <p:pic>
        <p:nvPicPr>
          <p:cNvPr id="40" name="Graphic 39" descr="Power Plant with solid fill">
            <a:extLst>
              <a:ext uri="{FF2B5EF4-FFF2-40B4-BE49-F238E27FC236}">
                <a16:creationId xmlns:a16="http://schemas.microsoft.com/office/drawing/2014/main" id="{7C9B8353-FD77-043D-5EFD-6B6E470ADB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4152" y="2351528"/>
            <a:ext cx="360694" cy="360694"/>
          </a:xfrm>
          <a:prstGeom prst="rect">
            <a:avLst/>
          </a:prstGeom>
        </p:spPr>
      </p:pic>
      <p:pic>
        <p:nvPicPr>
          <p:cNvPr id="41" name="Graphic 40" descr="Wind Turbines with solid fill">
            <a:extLst>
              <a:ext uri="{FF2B5EF4-FFF2-40B4-BE49-F238E27FC236}">
                <a16:creationId xmlns:a16="http://schemas.microsoft.com/office/drawing/2014/main" id="{E0CD7935-CAC9-B688-FDE7-7E20A55E2E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2426" y="4011566"/>
            <a:ext cx="421680" cy="421680"/>
          </a:xfrm>
          <a:prstGeom prst="rect">
            <a:avLst/>
          </a:prstGeom>
        </p:spPr>
      </p:pic>
      <p:pic>
        <p:nvPicPr>
          <p:cNvPr id="42" name="Graphic 41" descr="House with solid fill">
            <a:extLst>
              <a:ext uri="{FF2B5EF4-FFF2-40B4-BE49-F238E27FC236}">
                <a16:creationId xmlns:a16="http://schemas.microsoft.com/office/drawing/2014/main" id="{F85B1133-F95D-C102-9101-5BA542F2EE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68260" y="4398211"/>
            <a:ext cx="434352" cy="434352"/>
          </a:xfrm>
          <a:prstGeom prst="rect">
            <a:avLst/>
          </a:prstGeom>
        </p:spPr>
      </p:pic>
      <p:pic>
        <p:nvPicPr>
          <p:cNvPr id="43" name="Graphic 42" descr="House with solid fill">
            <a:extLst>
              <a:ext uri="{FF2B5EF4-FFF2-40B4-BE49-F238E27FC236}">
                <a16:creationId xmlns:a16="http://schemas.microsoft.com/office/drawing/2014/main" id="{E83C46D3-6BA3-CD8A-B27B-203A23D0D4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56143" y="4221847"/>
            <a:ext cx="434352" cy="434352"/>
          </a:xfrm>
          <a:prstGeom prst="rect">
            <a:avLst/>
          </a:prstGeom>
        </p:spPr>
      </p:pic>
      <p:pic>
        <p:nvPicPr>
          <p:cNvPr id="44" name="Graphic 43" descr="House with solid fill">
            <a:extLst>
              <a:ext uri="{FF2B5EF4-FFF2-40B4-BE49-F238E27FC236}">
                <a16:creationId xmlns:a16="http://schemas.microsoft.com/office/drawing/2014/main" id="{667DA3E8-C4D5-40B3-7AC2-E8CF977904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3724" y="2313523"/>
            <a:ext cx="434352" cy="434352"/>
          </a:xfrm>
          <a:prstGeom prst="rect">
            <a:avLst/>
          </a:prstGeom>
        </p:spPr>
      </p:pic>
      <p:pic>
        <p:nvPicPr>
          <p:cNvPr id="45" name="Graphic 44" descr="Building with solid fill">
            <a:extLst>
              <a:ext uri="{FF2B5EF4-FFF2-40B4-BE49-F238E27FC236}">
                <a16:creationId xmlns:a16="http://schemas.microsoft.com/office/drawing/2014/main" id="{4BDDB99F-E877-DCDA-3EA5-075A5217096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06428" y="4302439"/>
            <a:ext cx="395914" cy="395914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B2E52E3F-732D-C21E-0F27-945D51519FE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04100" y="3627645"/>
            <a:ext cx="2643373" cy="2471167"/>
          </a:xfrm>
          <a:prstGeom prst="rect">
            <a:avLst/>
          </a:prstGeom>
        </p:spPr>
      </p:pic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87CB8D96-C224-0E18-1A75-C1081E6A9D2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1162" y="6473313"/>
            <a:ext cx="7512802" cy="365125"/>
          </a:xfrm>
        </p:spPr>
        <p:txBody>
          <a:bodyPr/>
          <a:lstStyle/>
          <a:p>
            <a:r>
              <a:rPr lang="en-US" sz="1000" dirty="0"/>
              <a:t>Solving Large-Scale Electricity Market Pricing Problems in Polynomial Time | </a:t>
            </a:r>
            <a:r>
              <a:rPr lang="en-US" sz="1000" dirty="0" err="1"/>
              <a:t>Ahunbay</a:t>
            </a:r>
            <a:r>
              <a:rPr lang="en-US" sz="1000" dirty="0"/>
              <a:t>, </a:t>
            </a:r>
            <a:r>
              <a:rPr lang="en-US" sz="1000" dirty="0" err="1"/>
              <a:t>Bichler</a:t>
            </a:r>
            <a:r>
              <a:rPr lang="en-US" sz="1000" dirty="0"/>
              <a:t>, Dobos, </a:t>
            </a:r>
            <a:r>
              <a:rPr lang="en-US" sz="1000" dirty="0" err="1"/>
              <a:t>Kn</a:t>
            </a:r>
            <a:r>
              <a:rPr lang="de-DE" sz="1000" dirty="0" err="1"/>
              <a:t>örr</a:t>
            </a:r>
            <a:endParaRPr lang="en-US" sz="1000" dirty="0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374C3684-FAC9-5DFF-730E-78F13E596BC2}"/>
              </a:ext>
            </a:extLst>
          </p:cNvPr>
          <p:cNvSpPr/>
          <p:nvPr/>
        </p:nvSpPr>
        <p:spPr>
          <a:xfrm>
            <a:off x="2491226" y="1797250"/>
            <a:ext cx="45719" cy="46314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F0F904-9AD1-0182-F2F6-AA42EED3827A}"/>
              </a:ext>
            </a:extLst>
          </p:cNvPr>
          <p:cNvSpPr txBox="1"/>
          <p:nvPr/>
        </p:nvSpPr>
        <p:spPr>
          <a:xfrm>
            <a:off x="2697288" y="1916293"/>
            <a:ext cx="3749424" cy="22506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DE" sz="1400" dirty="0">
                <a:latin typeface="+mn-lt"/>
              </a:rPr>
              <a:t>Goods: electricity at each </a:t>
            </a:r>
            <a:r>
              <a:rPr lang="en-US" sz="1400" dirty="0">
                <a:latin typeface="+mn-lt"/>
              </a:rPr>
              <a:t>node </a:t>
            </a:r>
            <a:r>
              <a:rPr lang="en-DE" sz="1400" dirty="0">
                <a:latin typeface="+mn-lt"/>
              </a:rPr>
              <a:t>for every</a:t>
            </a:r>
            <a:r>
              <a:rPr lang="en-US" sz="1400" dirty="0">
                <a:latin typeface="+mn-lt"/>
              </a:rPr>
              <a:t> period</a:t>
            </a:r>
            <a:endParaRPr lang="en-DE" sz="1400" dirty="0" err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276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Inhaltsplatzhalt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400" dirty="0"/>
                  <a:t>Transmission network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400" dirty="0" err="1"/>
                  <a:t>Periods</a:t>
                </a:r>
                <a:r>
                  <a:rPr lang="de-DE" sz="1400" dirty="0"/>
                  <a:t> (24 </a:t>
                </a:r>
                <a:r>
                  <a:rPr lang="de-DE" sz="1400" dirty="0" err="1"/>
                  <a:t>hours</a:t>
                </a:r>
                <a:r>
                  <a:rPr lang="de-DE" sz="1400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e-DE" sz="1400" dirty="0"/>
              </a:p>
              <a:p>
                <a:pPr marL="342900" indent="-342900">
                  <a:buAutoNum type="arabicPeriod"/>
                </a:pPr>
                <a:r>
                  <a:rPr lang="de-DE" sz="1400" dirty="0"/>
                  <a:t>Set </a:t>
                </a:r>
                <a:r>
                  <a:rPr lang="de-DE" sz="1400" dirty="0" err="1"/>
                  <a:t>of</a:t>
                </a:r>
                <a:r>
                  <a:rPr lang="de-DE" sz="1400" dirty="0"/>
                  <a:t> </a:t>
                </a:r>
                <a:r>
                  <a:rPr lang="de-DE" sz="1400" dirty="0" err="1"/>
                  <a:t>sellers</a:t>
                </a:r>
                <a:r>
                  <a:rPr lang="de-DE" sz="1400" dirty="0"/>
                  <a:t>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1400" b="0" dirty="0"/>
              </a:p>
              <a:p>
                <a:pPr marL="342900" indent="-342900">
                  <a:buAutoNum type="arabicPeriod"/>
                </a:pPr>
                <a:r>
                  <a:rPr lang="de-DE" sz="1400" dirty="0"/>
                  <a:t>Set </a:t>
                </a:r>
                <a:r>
                  <a:rPr lang="de-DE" sz="1400" dirty="0" err="1"/>
                  <a:t>of</a:t>
                </a:r>
                <a:r>
                  <a:rPr lang="de-DE" sz="1400" dirty="0"/>
                  <a:t> </a:t>
                </a:r>
                <a:r>
                  <a:rPr lang="de-DE" sz="1400" dirty="0" err="1"/>
                  <a:t>buyers</a:t>
                </a:r>
                <a:r>
                  <a:rPr lang="de-DE" sz="1400" dirty="0"/>
                  <a:t>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de-DE" sz="1400" dirty="0"/>
              </a:p>
              <a:p>
                <a:pPr marL="342900" indent="-342900">
                  <a:buAutoNum type="arabicPeriod"/>
                </a:pPr>
                <a:r>
                  <a:rPr lang="de-DE" sz="1400" dirty="0"/>
                  <a:t>DCOPF power </a:t>
                </a:r>
                <a:r>
                  <a:rPr lang="de-DE" sz="1400" dirty="0" err="1"/>
                  <a:t>flow</a:t>
                </a:r>
                <a:r>
                  <a:rPr lang="de-DE" sz="1400" dirty="0"/>
                  <a:t> </a:t>
                </a:r>
                <a:r>
                  <a:rPr lang="de-DE" sz="1400" dirty="0" err="1"/>
                  <a:t>approximation</a:t>
                </a:r>
                <a:r>
                  <a:rPr lang="de-DE" sz="1400" dirty="0"/>
                  <a:t> (</a:t>
                </a:r>
                <a:r>
                  <a:rPr lang="de-DE" sz="1400" dirty="0" err="1"/>
                  <a:t>Molzahn</a:t>
                </a:r>
                <a:r>
                  <a:rPr lang="de-DE" sz="1400" dirty="0"/>
                  <a:t> &amp; </a:t>
                </a:r>
                <a:r>
                  <a:rPr lang="de-DE" sz="1400" dirty="0" err="1"/>
                  <a:t>Hiskens</a:t>
                </a:r>
                <a:r>
                  <a:rPr lang="de-DE" sz="1400" dirty="0"/>
                  <a:t>, 2019) </a:t>
                </a:r>
              </a:p>
              <a:p>
                <a:pPr marL="519113" lvl="1" indent="-342900">
                  <a:buFont typeface="Symbol" panose="05050102010706020507" pitchFamily="18" charset="2"/>
                  <a:buChar char="-"/>
                </a:pPr>
                <a:r>
                  <a:rPr lang="de-DE" sz="1400" dirty="0"/>
                  <a:t>linear </a:t>
                </a:r>
                <a:r>
                  <a:rPr lang="de-DE" sz="1400" dirty="0" err="1"/>
                  <a:t>approximation</a:t>
                </a:r>
                <a:r>
                  <a:rPr lang="de-DE" sz="1400" dirty="0"/>
                  <a:t> </a:t>
                </a:r>
                <a:endParaRPr lang="en-US" sz="1400" b="0" dirty="0"/>
              </a:p>
              <a:p>
                <a:endParaRPr lang="de-DE" sz="1400" dirty="0"/>
              </a:p>
              <a:p>
                <a:endParaRPr lang="de-DE" sz="1400" dirty="0"/>
              </a:p>
            </p:txBody>
          </p:sp>
        </mc:Choice>
        <mc:Fallback>
          <p:sp>
            <p:nvSpPr>
              <p:cNvPr id="2" name="Inhaltsplatzhalt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90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Electricity market model</a:t>
            </a:r>
            <a:endParaRPr lang="de-DE" sz="3000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A9F19816-4F27-6D1C-B501-00F28C99881E}"/>
              </a:ext>
            </a:extLst>
          </p:cNvPr>
          <p:cNvSpPr/>
          <p:nvPr/>
        </p:nvSpPr>
        <p:spPr>
          <a:xfrm>
            <a:off x="7200900" y="3471111"/>
            <a:ext cx="378995" cy="360947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3081DE8B-B514-3CB4-EC2E-7AC538F15ADB}"/>
              </a:ext>
            </a:extLst>
          </p:cNvPr>
          <p:cNvSpPr/>
          <p:nvPr/>
        </p:nvSpPr>
        <p:spPr>
          <a:xfrm>
            <a:off x="6774933" y="4212203"/>
            <a:ext cx="378995" cy="360947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B22F90F2-FA45-7CA5-EED3-3F631362C2CD}"/>
              </a:ext>
            </a:extLst>
          </p:cNvPr>
          <p:cNvSpPr/>
          <p:nvPr/>
        </p:nvSpPr>
        <p:spPr>
          <a:xfrm>
            <a:off x="8182936" y="4031729"/>
            <a:ext cx="378995" cy="360947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045BC598-1BEE-6F75-9F05-05B3FC72A0D0}"/>
              </a:ext>
            </a:extLst>
          </p:cNvPr>
          <p:cNvSpPr/>
          <p:nvPr/>
        </p:nvSpPr>
        <p:spPr>
          <a:xfrm>
            <a:off x="6585436" y="2639903"/>
            <a:ext cx="378995" cy="360947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5108FFB0-2266-B7CD-D970-06E45D0F8E56}"/>
              </a:ext>
            </a:extLst>
          </p:cNvPr>
          <p:cNvSpPr/>
          <p:nvPr/>
        </p:nvSpPr>
        <p:spPr>
          <a:xfrm>
            <a:off x="8042262" y="3068053"/>
            <a:ext cx="378995" cy="360947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4A5E141-7985-BCDA-3D32-FBA2C17E70B6}"/>
              </a:ext>
            </a:extLst>
          </p:cNvPr>
          <p:cNvCxnSpPr>
            <a:stCxn id="10" idx="5"/>
            <a:endCxn id="6" idx="1"/>
          </p:cNvCxnSpPr>
          <p:nvPr/>
        </p:nvCxnSpPr>
        <p:spPr>
          <a:xfrm>
            <a:off x="6908928" y="2947991"/>
            <a:ext cx="347475" cy="5759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A847DB-B765-0042-FA34-C387CA5C0FA4}"/>
              </a:ext>
            </a:extLst>
          </p:cNvPr>
          <p:cNvCxnSpPr>
            <a:cxnSpLocks/>
            <a:stCxn id="6" idx="3"/>
            <a:endCxn id="8" idx="0"/>
          </p:cNvCxnSpPr>
          <p:nvPr/>
        </p:nvCxnSpPr>
        <p:spPr>
          <a:xfrm flipH="1">
            <a:off x="6964431" y="3779199"/>
            <a:ext cx="291972" cy="4330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FA06633-9BC0-9CBC-DED3-B127FFCDB635}"/>
              </a:ext>
            </a:extLst>
          </p:cNvPr>
          <p:cNvCxnSpPr>
            <a:cxnSpLocks/>
            <a:stCxn id="11" idx="3"/>
          </p:cNvCxnSpPr>
          <p:nvPr/>
        </p:nvCxnSpPr>
        <p:spPr>
          <a:xfrm flipH="1">
            <a:off x="7567864" y="3376141"/>
            <a:ext cx="529901" cy="1988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9274259-CFF4-E316-1691-BB16B69598E9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7539237" y="3743739"/>
            <a:ext cx="699202" cy="3408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D0101E0-AB86-EAAE-FA55-CBEA3C379CEB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6946424" y="2780063"/>
            <a:ext cx="1151341" cy="3408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2BB5E2A-FC48-8D60-E2BA-33BE30061474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8365542" y="3363594"/>
            <a:ext cx="6892" cy="6681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2962269-A5BC-5FFC-41A5-9CDE395E50CC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6705012" y="2990228"/>
            <a:ext cx="125424" cy="12748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000CAC9-9911-A03A-D848-61FD487421E5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7153928" y="4212203"/>
            <a:ext cx="1029008" cy="1804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8" name="Graphic 37" descr="Wind Turbines with solid fill">
            <a:extLst>
              <a:ext uri="{FF2B5EF4-FFF2-40B4-BE49-F238E27FC236}">
                <a16:creationId xmlns:a16="http://schemas.microsoft.com/office/drawing/2014/main" id="{586ADB24-10CD-85DE-6C24-834F441FBA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04962" y="2590890"/>
            <a:ext cx="421680" cy="421680"/>
          </a:xfrm>
          <a:prstGeom prst="rect">
            <a:avLst/>
          </a:prstGeom>
        </p:spPr>
      </p:pic>
      <p:pic>
        <p:nvPicPr>
          <p:cNvPr id="39" name="Graphic 38" descr="Power Plant with solid fill">
            <a:extLst>
              <a:ext uri="{FF2B5EF4-FFF2-40B4-BE49-F238E27FC236}">
                <a16:creationId xmlns:a16="http://schemas.microsoft.com/office/drawing/2014/main" id="{3C8C0211-F0A9-469E-2C51-6E717D2AC3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31435" y="3071824"/>
            <a:ext cx="360694" cy="360694"/>
          </a:xfrm>
          <a:prstGeom prst="rect">
            <a:avLst/>
          </a:prstGeom>
        </p:spPr>
      </p:pic>
      <p:pic>
        <p:nvPicPr>
          <p:cNvPr id="40" name="Graphic 39" descr="Power Plant with solid fill">
            <a:extLst>
              <a:ext uri="{FF2B5EF4-FFF2-40B4-BE49-F238E27FC236}">
                <a16:creationId xmlns:a16="http://schemas.microsoft.com/office/drawing/2014/main" id="{7C9B8353-FD77-043D-5EFD-6B6E470ADB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4152" y="2351528"/>
            <a:ext cx="360694" cy="360694"/>
          </a:xfrm>
          <a:prstGeom prst="rect">
            <a:avLst/>
          </a:prstGeom>
        </p:spPr>
      </p:pic>
      <p:pic>
        <p:nvPicPr>
          <p:cNvPr id="41" name="Graphic 40" descr="Wind Turbines with solid fill">
            <a:extLst>
              <a:ext uri="{FF2B5EF4-FFF2-40B4-BE49-F238E27FC236}">
                <a16:creationId xmlns:a16="http://schemas.microsoft.com/office/drawing/2014/main" id="{E0CD7935-CAC9-B688-FDE7-7E20A55E2E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2426" y="4011566"/>
            <a:ext cx="421680" cy="421680"/>
          </a:xfrm>
          <a:prstGeom prst="rect">
            <a:avLst/>
          </a:prstGeom>
        </p:spPr>
      </p:pic>
      <p:pic>
        <p:nvPicPr>
          <p:cNvPr id="42" name="Graphic 41" descr="House with solid fill">
            <a:extLst>
              <a:ext uri="{FF2B5EF4-FFF2-40B4-BE49-F238E27FC236}">
                <a16:creationId xmlns:a16="http://schemas.microsoft.com/office/drawing/2014/main" id="{F85B1133-F95D-C102-9101-5BA542F2EE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68260" y="4398211"/>
            <a:ext cx="434352" cy="434352"/>
          </a:xfrm>
          <a:prstGeom prst="rect">
            <a:avLst/>
          </a:prstGeom>
        </p:spPr>
      </p:pic>
      <p:pic>
        <p:nvPicPr>
          <p:cNvPr id="43" name="Graphic 42" descr="House with solid fill">
            <a:extLst>
              <a:ext uri="{FF2B5EF4-FFF2-40B4-BE49-F238E27FC236}">
                <a16:creationId xmlns:a16="http://schemas.microsoft.com/office/drawing/2014/main" id="{E83C46D3-6BA3-CD8A-B27B-203A23D0D4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56143" y="4221847"/>
            <a:ext cx="434352" cy="434352"/>
          </a:xfrm>
          <a:prstGeom prst="rect">
            <a:avLst/>
          </a:prstGeom>
        </p:spPr>
      </p:pic>
      <p:pic>
        <p:nvPicPr>
          <p:cNvPr id="44" name="Graphic 43" descr="House with solid fill">
            <a:extLst>
              <a:ext uri="{FF2B5EF4-FFF2-40B4-BE49-F238E27FC236}">
                <a16:creationId xmlns:a16="http://schemas.microsoft.com/office/drawing/2014/main" id="{667DA3E8-C4D5-40B3-7AC2-E8CF977904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3724" y="2313523"/>
            <a:ext cx="434352" cy="434352"/>
          </a:xfrm>
          <a:prstGeom prst="rect">
            <a:avLst/>
          </a:prstGeom>
        </p:spPr>
      </p:pic>
      <p:pic>
        <p:nvPicPr>
          <p:cNvPr id="45" name="Graphic 44" descr="Building with solid fill">
            <a:extLst>
              <a:ext uri="{FF2B5EF4-FFF2-40B4-BE49-F238E27FC236}">
                <a16:creationId xmlns:a16="http://schemas.microsoft.com/office/drawing/2014/main" id="{4BDDB99F-E877-DCDA-3EA5-075A5217096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06428" y="4302439"/>
            <a:ext cx="395914" cy="395914"/>
          </a:xfrm>
          <a:prstGeom prst="rect">
            <a:avLst/>
          </a:prstGeom>
        </p:spPr>
      </p:pic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87CB8D96-C224-0E18-1A75-C1081E6A9D2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1162" y="6473313"/>
            <a:ext cx="7512802" cy="365125"/>
          </a:xfrm>
        </p:spPr>
        <p:txBody>
          <a:bodyPr/>
          <a:lstStyle/>
          <a:p>
            <a:r>
              <a:rPr lang="en-US" sz="1000" dirty="0"/>
              <a:t>Solving Large-Scale Electricity Market Pricing Problems in Polynomial Time | </a:t>
            </a:r>
            <a:r>
              <a:rPr lang="en-US" sz="1000" dirty="0" err="1"/>
              <a:t>Ahunbay</a:t>
            </a:r>
            <a:r>
              <a:rPr lang="en-US" sz="1000" dirty="0"/>
              <a:t>, </a:t>
            </a:r>
            <a:r>
              <a:rPr lang="en-US" sz="1000" dirty="0" err="1"/>
              <a:t>Bichler</a:t>
            </a:r>
            <a:r>
              <a:rPr lang="en-US" sz="1000" dirty="0"/>
              <a:t>, Dobos, </a:t>
            </a:r>
            <a:r>
              <a:rPr lang="en-US" sz="1000" dirty="0" err="1"/>
              <a:t>Kn</a:t>
            </a:r>
            <a:r>
              <a:rPr lang="de-DE" sz="1000" dirty="0" err="1"/>
              <a:t>örr</a:t>
            </a:r>
            <a:endParaRPr 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1F14CF6-5DA8-C050-CB35-99A6D1FE284C}"/>
                  </a:ext>
                </a:extLst>
              </p:cNvPr>
              <p:cNvSpPr txBox="1"/>
              <p:nvPr/>
            </p:nvSpPr>
            <p:spPr>
              <a:xfrm>
                <a:off x="6880247" y="4269325"/>
                <a:ext cx="188000" cy="2455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1400" i="1" dirty="0">
                  <a:latin typeface="+mn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1F14CF6-5DA8-C050-CB35-99A6D1FE2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0247" y="4269325"/>
                <a:ext cx="188000" cy="24558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B629A7F-35C3-8CCC-3605-6E4E68B3E1FD}"/>
                  </a:ext>
                </a:extLst>
              </p:cNvPr>
              <p:cNvSpPr txBox="1"/>
              <p:nvPr/>
            </p:nvSpPr>
            <p:spPr>
              <a:xfrm>
                <a:off x="8298311" y="4093127"/>
                <a:ext cx="188000" cy="2455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sz="1400" i="1" dirty="0">
                  <a:latin typeface="+mn-lt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B629A7F-35C3-8CCC-3605-6E4E68B3E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8311" y="4093127"/>
                <a:ext cx="188000" cy="245580"/>
              </a:xfrm>
              <a:prstGeom prst="rect">
                <a:avLst/>
              </a:prstGeom>
              <a:blipFill>
                <a:blip r:embed="rId13"/>
                <a:stretch>
                  <a:fillRect l="-12500" r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D021F92-1475-CD03-221C-E4A97E235EF7}"/>
              </a:ext>
            </a:extLst>
          </p:cNvPr>
          <p:cNvCxnSpPr>
            <a:cxnSpLocks/>
          </p:cNvCxnSpPr>
          <p:nvPr/>
        </p:nvCxnSpPr>
        <p:spPr>
          <a:xfrm flipV="1">
            <a:off x="7248558" y="4370781"/>
            <a:ext cx="849207" cy="146811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8B341C1-B8E3-665F-79A0-AE9070D3A4BB}"/>
                  </a:ext>
                </a:extLst>
              </p:cNvPr>
              <p:cNvSpPr txBox="1"/>
              <p:nvPr/>
            </p:nvSpPr>
            <p:spPr>
              <a:xfrm>
                <a:off x="7486405" y="4518535"/>
                <a:ext cx="454740" cy="4706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𝑣𝑤𝑡</m:t>
                          </m:r>
                        </m:sub>
                      </m:sSub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  <a:latin typeface="+mn-lt"/>
                </a:endParaRPr>
              </a:p>
              <a:p>
                <a:pPr>
                  <a:lnSpc>
                    <a:spcPct val="114000"/>
                  </a:lnSpc>
                </a:pPr>
                <a:endParaRPr lang="en-US" sz="1400" dirty="0" err="1">
                  <a:solidFill>
                    <a:schemeClr val="tx1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8B341C1-B8E3-665F-79A0-AE9070D3A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405" y="4518535"/>
                <a:ext cx="454740" cy="470642"/>
              </a:xfrm>
              <a:prstGeom prst="rect">
                <a:avLst/>
              </a:prstGeom>
              <a:blipFill>
                <a:blip r:embed="rId14"/>
                <a:stretch>
                  <a:fillRect l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Brace 15">
            <a:extLst>
              <a:ext uri="{FF2B5EF4-FFF2-40B4-BE49-F238E27FC236}">
                <a16:creationId xmlns:a16="http://schemas.microsoft.com/office/drawing/2014/main" id="{F47DBBD8-C9EE-9887-C5A1-C2A2396AF88A}"/>
              </a:ext>
            </a:extLst>
          </p:cNvPr>
          <p:cNvSpPr/>
          <p:nvPr/>
        </p:nvSpPr>
        <p:spPr>
          <a:xfrm>
            <a:off x="2491226" y="1797250"/>
            <a:ext cx="45719" cy="46314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0CD57B-EFB4-E531-84AF-9EDAC58D6463}"/>
              </a:ext>
            </a:extLst>
          </p:cNvPr>
          <p:cNvSpPr txBox="1"/>
          <p:nvPr/>
        </p:nvSpPr>
        <p:spPr>
          <a:xfrm>
            <a:off x="2697288" y="1916293"/>
            <a:ext cx="3749424" cy="22506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DE" sz="1400" dirty="0">
                <a:latin typeface="+mn-lt"/>
              </a:rPr>
              <a:t>Goods: electricity at each </a:t>
            </a:r>
            <a:r>
              <a:rPr lang="en-US" sz="1400" dirty="0">
                <a:latin typeface="+mn-lt"/>
              </a:rPr>
              <a:t>node </a:t>
            </a:r>
            <a:r>
              <a:rPr lang="en-DE" sz="1400" dirty="0">
                <a:latin typeface="+mn-lt"/>
              </a:rPr>
              <a:t>for every</a:t>
            </a:r>
            <a:r>
              <a:rPr lang="en-US" sz="1400" dirty="0">
                <a:latin typeface="+mn-lt"/>
              </a:rPr>
              <a:t> period</a:t>
            </a:r>
            <a:endParaRPr lang="en-DE" sz="1400" dirty="0" err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8060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5F939E-AF1A-C27E-2984-5396B2E68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dirty="0"/>
              <a:t>Electricity market model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b="1" dirty="0">
                <a:solidFill>
                  <a:srgbClr val="0070C0"/>
                </a:solidFill>
              </a:rPr>
              <a:t>Welfare maximization &amp; pricing problems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Markup mechanism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Evaluation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FontTx/>
              <a:buAutoNum type="arabicPeriod"/>
            </a:pPr>
            <a:r>
              <a:rPr lang="en-US" dirty="0"/>
              <a:t>Conclusions 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de-D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4EA9B5-547C-2365-920B-4E6113D74D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3E6C020-B9E9-2BC0-448C-CA52FA602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de-DE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2E54CE0F-6CCD-810B-CE95-9E71E32BC32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1162" y="6473313"/>
            <a:ext cx="7512802" cy="365125"/>
          </a:xfrm>
        </p:spPr>
        <p:txBody>
          <a:bodyPr/>
          <a:lstStyle/>
          <a:p>
            <a:r>
              <a:rPr lang="en-US" sz="1000" dirty="0"/>
              <a:t>Solving Large-Scale Electricity Market Pricing Problems in Polynomial Time | </a:t>
            </a:r>
            <a:r>
              <a:rPr lang="en-US" sz="1000" dirty="0" err="1"/>
              <a:t>Ahunbay</a:t>
            </a:r>
            <a:r>
              <a:rPr lang="en-US" sz="1000" dirty="0"/>
              <a:t>, </a:t>
            </a:r>
            <a:r>
              <a:rPr lang="en-US" sz="1000" dirty="0" err="1"/>
              <a:t>Bichler</a:t>
            </a:r>
            <a:r>
              <a:rPr lang="en-US" sz="1000" dirty="0"/>
              <a:t>, Dobos, </a:t>
            </a:r>
            <a:r>
              <a:rPr lang="en-US" sz="1000" dirty="0" err="1"/>
              <a:t>Kn</a:t>
            </a:r>
            <a:r>
              <a:rPr lang="de-DE" sz="1000" dirty="0" err="1"/>
              <a:t>örr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12747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Inhaltsplatzhalt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1400" dirty="0"/>
                  <a:t>Let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be an allocation with</a:t>
                </a:r>
              </a:p>
              <a:p>
                <a:pPr marL="461963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400" b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: </a:t>
                </a:r>
                <a:r>
                  <a:rPr lang="en-US" sz="1400" dirty="0">
                    <a:solidFill>
                      <a:schemeClr val="tx1"/>
                    </a:solidFill>
                  </a:rPr>
                  <a:t>buyers’ fulfilled demand</a:t>
                </a:r>
              </a:p>
              <a:p>
                <a:pPr marL="461963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400" b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:</a:t>
                </a:r>
                <a:r>
                  <a:rPr lang="en-US" sz="1400" b="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1400" dirty="0">
                    <a:solidFill>
                      <a:schemeClr val="tx1"/>
                    </a:solidFill>
                  </a:rPr>
                  <a:t>sellers’ production</a:t>
                </a:r>
                <a:endParaRPr lang="en-US" sz="1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461963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1400" b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: </a:t>
                </a:r>
                <a:r>
                  <a:rPr lang="en-US" sz="1400" dirty="0">
                    <a:solidFill>
                      <a:schemeClr val="tx1"/>
                    </a:solidFill>
                  </a:rPr>
                  <a:t>sellers’ commitment</a:t>
                </a:r>
                <a:endParaRPr lang="en-US" sz="1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461963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: flows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WMP is defined as</a:t>
                </a:r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ar-AE" sz="1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ar-AE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lim>
                      </m:limLow>
                      <m:r>
                        <a:rPr lang="ar-AE" sz="14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ar-AE" sz="14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ar-AE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ar-AE" sz="1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.     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l-GR" sz="1400" b="0" i="0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l-G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400" b="0" i="1" smtClean="0">
                          <a:latin typeface="Cambria Math" panose="02040503050406030204" pitchFamily="18" charset="0"/>
                        </a:rPr>
                        <m:t>                        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𝑠𝑡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0, 1</m:t>
                          </m:r>
                        </m:e>
                      </m:d>
                      <m:r>
                        <a:rPr lang="ar-AE" sz="1400" b="0" i="1" smtClean="0">
                          <a:latin typeface="Cambria Math" panose="02040503050406030204" pitchFamily="18" charset="0"/>
                        </a:rPr>
                        <m:t> ∀</m:t>
                      </m:r>
                      <m:r>
                        <a:rPr lang="ar-AE" sz="1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ar-AE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ar-AE" sz="1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ar-AE" sz="1400" dirty="0"/>
              </a:p>
              <a:p>
                <a:endParaRPr lang="ar-AE" sz="1400" dirty="0"/>
              </a:p>
              <a:p>
                <a:endParaRPr lang="ar-AE" sz="1400" dirty="0"/>
              </a:p>
              <a:p>
                <a:r>
                  <a:rPr lang="en-US" sz="1400" dirty="0"/>
                  <a:t>where the welfare is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ar-AE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ar-AE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ar-AE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ar-AE" sz="1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ar-AE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ar-AE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ar-AE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ar-AE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ar-AE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ar-AE" sz="1400" b="0" i="1" smtClean="0">
                          <a:latin typeface="Cambria Math" panose="02040503050406030204" pitchFamily="18" charset="0"/>
                        </a:rPr>
                        <m:t> 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ar-AE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sz="1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ar-AE" sz="1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ar-AE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ar-AE" sz="1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sz="14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ar-AE" sz="1400" dirty="0"/>
              </a:p>
              <a:p>
                <a:endParaRPr lang="ar-AE" sz="1400" dirty="0"/>
              </a:p>
              <a:p>
                <a:endParaRPr lang="ar-AE" sz="1400" dirty="0"/>
              </a:p>
            </p:txBody>
          </p:sp>
        </mc:Choice>
        <mc:Fallback>
          <p:sp>
            <p:nvSpPr>
              <p:cNvPr id="2" name="Inhaltsplatzhalt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90" t="-1078" b="-5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z="3000" dirty="0"/>
              <a:t>Welfare maximization problem (WMP)</a:t>
            </a:r>
            <a:endParaRPr lang="de-DE" sz="30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006CDC-B13D-0A46-64B9-39984CF31E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1162" y="6473313"/>
            <a:ext cx="7512802" cy="365125"/>
          </a:xfrm>
        </p:spPr>
        <p:txBody>
          <a:bodyPr/>
          <a:lstStyle/>
          <a:p>
            <a:r>
              <a:rPr lang="en-US" sz="1000" dirty="0"/>
              <a:t>Solving Large-Scale Electricity Market Pricing Problems in Polynomial Time | </a:t>
            </a:r>
            <a:r>
              <a:rPr lang="en-US" sz="1000" dirty="0" err="1"/>
              <a:t>Ahunbay</a:t>
            </a:r>
            <a:r>
              <a:rPr lang="en-US" sz="1000" dirty="0"/>
              <a:t>, </a:t>
            </a:r>
            <a:r>
              <a:rPr lang="en-US" sz="1000" dirty="0" err="1"/>
              <a:t>Bichler</a:t>
            </a:r>
            <a:r>
              <a:rPr lang="en-US" sz="1000" dirty="0"/>
              <a:t>, Dobos, </a:t>
            </a:r>
            <a:r>
              <a:rPr lang="en-US" sz="1000" dirty="0" err="1"/>
              <a:t>Kn</a:t>
            </a:r>
            <a:r>
              <a:rPr lang="de-DE" sz="1000" dirty="0" err="1"/>
              <a:t>örr</a:t>
            </a:r>
            <a:endParaRPr lang="en-US" sz="10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0C11571-8E4E-ADB8-A0DA-8C1A9C33922A}"/>
              </a:ext>
            </a:extLst>
          </p:cNvPr>
          <p:cNvCxnSpPr>
            <a:cxnSpLocks/>
          </p:cNvCxnSpPr>
          <p:nvPr/>
        </p:nvCxnSpPr>
        <p:spPr>
          <a:xfrm flipH="1">
            <a:off x="5051502" y="3166946"/>
            <a:ext cx="1048215" cy="724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664A918-CCE5-517B-DA42-E46D09F383DD}"/>
              </a:ext>
            </a:extLst>
          </p:cNvPr>
          <p:cNvSpPr txBox="1"/>
          <p:nvPr/>
        </p:nvSpPr>
        <p:spPr>
          <a:xfrm>
            <a:off x="6211229" y="2810106"/>
            <a:ext cx="2617704" cy="7162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400" dirty="0">
                <a:latin typeface="+mn-lt"/>
              </a:rPr>
              <a:t>Node-balance constraints</a:t>
            </a:r>
          </a:p>
          <a:p>
            <a:pPr>
              <a:lnSpc>
                <a:spcPct val="114000"/>
              </a:lnSpc>
            </a:pPr>
            <a:r>
              <a:rPr lang="en-US" sz="1400" dirty="0">
                <a:latin typeface="+mn-lt"/>
              </a:rPr>
              <a:t>Price-inelastic demand fulfillment</a:t>
            </a:r>
          </a:p>
          <a:p>
            <a:pPr>
              <a:lnSpc>
                <a:spcPct val="114000"/>
              </a:lnSpc>
            </a:pPr>
            <a:r>
              <a:rPr lang="en-US" sz="1400" dirty="0">
                <a:latin typeface="+mn-lt"/>
              </a:rPr>
              <a:t>Production constraints, etc.</a:t>
            </a:r>
          </a:p>
        </p:txBody>
      </p:sp>
    </p:spTree>
    <p:extLst>
      <p:ext uri="{BB962C8B-B14F-4D97-AF65-F5344CB8AC3E}">
        <p14:creationId xmlns:p14="http://schemas.microsoft.com/office/powerpoint/2010/main" val="3799521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400" dirty="0"/>
                  <a:t>For a </a:t>
                </a:r>
                <a:r>
                  <a:rPr lang="de-DE" sz="1400" b="1" dirty="0" err="1">
                    <a:solidFill>
                      <a:srgbClr val="0070C0"/>
                    </a:solidFill>
                  </a:rPr>
                  <a:t>convex</a:t>
                </a:r>
                <a:r>
                  <a:rPr lang="de-DE" sz="1400" b="1" dirty="0">
                    <a:solidFill>
                      <a:srgbClr val="0070C0"/>
                    </a:solidFill>
                  </a:rPr>
                  <a:t> </a:t>
                </a:r>
                <a:r>
                  <a:rPr lang="de-DE" sz="1400" b="1" dirty="0" err="1">
                    <a:solidFill>
                      <a:srgbClr val="0070C0"/>
                    </a:solidFill>
                  </a:rPr>
                  <a:t>market</a:t>
                </a:r>
                <a:r>
                  <a:rPr lang="de-DE" sz="1400" dirty="0"/>
                  <a:t>, </a:t>
                </a:r>
                <a:r>
                  <a:rPr lang="de-DE" sz="1400" dirty="0" err="1"/>
                  <a:t>the</a:t>
                </a:r>
                <a:r>
                  <a:rPr lang="de-DE" sz="1400" dirty="0"/>
                  <a:t> </a:t>
                </a:r>
                <a:r>
                  <a:rPr lang="de-DE" sz="1400" i="1" dirty="0" err="1"/>
                  <a:t>Welfare</a:t>
                </a:r>
                <a:r>
                  <a:rPr lang="de-DE" sz="1400" i="1" dirty="0"/>
                  <a:t> Theorems </a:t>
                </a:r>
                <a:r>
                  <a:rPr lang="de-DE" sz="1400" dirty="0"/>
                  <a:t>(Arrow &amp; Debreu 1954)</a:t>
                </a:r>
                <a:r>
                  <a:rPr lang="de-DE" sz="1400" i="1" dirty="0"/>
                  <a:t> </a:t>
                </a:r>
                <a:r>
                  <a:rPr lang="de-DE" sz="1400" dirty="0"/>
                  <a:t>hold</a:t>
                </a:r>
                <a:r>
                  <a:rPr lang="de-DE" sz="1400" i="1" dirty="0"/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e-DE" sz="1400" i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400" dirty="0"/>
                  <a:t>A primal solution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de-DE" sz="1400" dirty="0"/>
                  <a:t> and a dual solution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de-DE" sz="1400" dirty="0"/>
                  <a:t> form a </a:t>
                </a:r>
                <a:r>
                  <a:rPr lang="de-DE" sz="1400" b="1" i="1" dirty="0">
                    <a:solidFill>
                      <a:srgbClr val="0070C0"/>
                    </a:solidFill>
                  </a:rPr>
                  <a:t>Walrasian </a:t>
                </a:r>
                <a:r>
                  <a:rPr lang="de-DE" sz="1400" b="1" i="1" dirty="0" err="1">
                    <a:solidFill>
                      <a:srgbClr val="0070C0"/>
                    </a:solidFill>
                  </a:rPr>
                  <a:t>equilibrium</a:t>
                </a:r>
                <a:r>
                  <a:rPr lang="de-DE" sz="1400" i="1" dirty="0">
                    <a:solidFill>
                      <a:srgbClr val="0070C0"/>
                    </a:solidFill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e-DE" sz="1400" i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400" dirty="0"/>
                  <a:t>Such a pair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de-DE" sz="1400" dirty="0"/>
                  <a:t> satisfies certain desirable </a:t>
                </a:r>
                <a:r>
                  <a:rPr lang="de-DE" sz="1400" dirty="0" err="1"/>
                  <a:t>properties</a:t>
                </a:r>
                <a:r>
                  <a:rPr lang="de-DE" sz="1400" dirty="0"/>
                  <a:t>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e-DE" sz="1400" i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e-DE" sz="1400" i="1" dirty="0"/>
              </a:p>
            </p:txBody>
          </p:sp>
        </mc:Choice>
        <mc:Fallback xmlns="">
          <p:sp>
            <p:nvSpPr>
              <p:cNvPr id="2" name="Inhaltsplatzhalt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6" t="-90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Pricing problem</a:t>
            </a:r>
            <a:endParaRPr lang="de-DE" sz="30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A8D5AD-C6DE-E3C3-FD62-CE2624F50E7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1162" y="6473313"/>
            <a:ext cx="7512802" cy="365125"/>
          </a:xfrm>
        </p:spPr>
        <p:txBody>
          <a:bodyPr/>
          <a:lstStyle/>
          <a:p>
            <a:r>
              <a:rPr lang="en-US" sz="1000" dirty="0"/>
              <a:t>Solving Large-Scale Electricity Market Pricing Problems in Polynomial Time | </a:t>
            </a:r>
            <a:r>
              <a:rPr lang="en-US" sz="1000" dirty="0" err="1"/>
              <a:t>Ahunbay</a:t>
            </a:r>
            <a:r>
              <a:rPr lang="en-US" sz="1000" dirty="0"/>
              <a:t>, </a:t>
            </a:r>
            <a:r>
              <a:rPr lang="en-US" sz="1000" dirty="0" err="1"/>
              <a:t>Bichler</a:t>
            </a:r>
            <a:r>
              <a:rPr lang="en-US" sz="1000" dirty="0"/>
              <a:t>, Dobos, </a:t>
            </a:r>
            <a:r>
              <a:rPr lang="en-US" sz="1000" dirty="0" err="1"/>
              <a:t>Kn</a:t>
            </a:r>
            <a:r>
              <a:rPr lang="de-DE" sz="1000" dirty="0" err="1"/>
              <a:t>örr</a:t>
            </a:r>
            <a:endParaRPr lang="en-US" sz="1000" dirty="0"/>
          </a:p>
        </p:txBody>
      </p:sp>
      <p:sp>
        <p:nvSpPr>
          <p:cNvPr id="13" name="Rechteck 10">
            <a:extLst>
              <a:ext uri="{FF2B5EF4-FFF2-40B4-BE49-F238E27FC236}">
                <a16:creationId xmlns:a16="http://schemas.microsoft.com/office/drawing/2014/main" id="{335ABDAA-C86D-3817-C1B5-F0D6B78A2BD2}"/>
              </a:ext>
            </a:extLst>
          </p:cNvPr>
          <p:cNvSpPr/>
          <p:nvPr/>
        </p:nvSpPr>
        <p:spPr>
          <a:xfrm>
            <a:off x="407397" y="4742953"/>
            <a:ext cx="1823818" cy="458911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sz="1400" dirty="0">
                <a:solidFill>
                  <a:schemeClr val="bg1"/>
                </a:solidFill>
              </a:rPr>
              <a:t>Efficiency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" name="Rechteck 12">
            <a:extLst>
              <a:ext uri="{FF2B5EF4-FFF2-40B4-BE49-F238E27FC236}">
                <a16:creationId xmlns:a16="http://schemas.microsoft.com/office/drawing/2014/main" id="{DDBE0E29-BA48-E40A-7DAF-B98EA268402B}"/>
              </a:ext>
            </a:extLst>
          </p:cNvPr>
          <p:cNvSpPr/>
          <p:nvPr/>
        </p:nvSpPr>
        <p:spPr>
          <a:xfrm>
            <a:off x="2570341" y="4742953"/>
            <a:ext cx="1823818" cy="458911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sz="1400" dirty="0">
                <a:solidFill>
                  <a:schemeClr val="bg1"/>
                </a:solidFill>
              </a:rPr>
              <a:t>Supply-</a:t>
            </a:r>
            <a:r>
              <a:rPr lang="de-DE" sz="1400" dirty="0" err="1">
                <a:solidFill>
                  <a:schemeClr val="bg1"/>
                </a:solidFill>
              </a:rPr>
              <a:t>demand</a:t>
            </a:r>
            <a:r>
              <a:rPr lang="de-DE" sz="1400" dirty="0">
                <a:solidFill>
                  <a:schemeClr val="bg1"/>
                </a:solidFill>
              </a:rPr>
              <a:t> </a:t>
            </a:r>
            <a:r>
              <a:rPr lang="de-DE" sz="1400" dirty="0" err="1">
                <a:solidFill>
                  <a:schemeClr val="bg1"/>
                </a:solidFill>
              </a:rPr>
              <a:t>balance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Rechteck 14">
            <a:extLst>
              <a:ext uri="{FF2B5EF4-FFF2-40B4-BE49-F238E27FC236}">
                <a16:creationId xmlns:a16="http://schemas.microsoft.com/office/drawing/2014/main" id="{23068DFB-041A-27CC-858C-EA075A7322A7}"/>
              </a:ext>
            </a:extLst>
          </p:cNvPr>
          <p:cNvSpPr/>
          <p:nvPr/>
        </p:nvSpPr>
        <p:spPr>
          <a:xfrm>
            <a:off x="4733285" y="4742953"/>
            <a:ext cx="1823818" cy="458911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sz="1400" dirty="0">
                <a:solidFill>
                  <a:schemeClr val="bg1"/>
                </a:solidFill>
              </a:rPr>
              <a:t>Envy-</a:t>
            </a:r>
            <a:r>
              <a:rPr lang="de-DE" sz="1400" dirty="0" err="1">
                <a:solidFill>
                  <a:schemeClr val="bg1"/>
                </a:solidFill>
              </a:rPr>
              <a:t>freeness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9" name="Rechteck 16">
            <a:extLst>
              <a:ext uri="{FF2B5EF4-FFF2-40B4-BE49-F238E27FC236}">
                <a16:creationId xmlns:a16="http://schemas.microsoft.com/office/drawing/2014/main" id="{79BAD8A4-83D6-800D-07D3-AFF4942B2668}"/>
              </a:ext>
            </a:extLst>
          </p:cNvPr>
          <p:cNvSpPr/>
          <p:nvPr/>
        </p:nvSpPr>
        <p:spPr>
          <a:xfrm>
            <a:off x="6896229" y="4742953"/>
            <a:ext cx="1823818" cy="458911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sz="1400" dirty="0">
                <a:solidFill>
                  <a:schemeClr val="bg1"/>
                </a:solidFill>
              </a:rPr>
              <a:t>Budget </a:t>
            </a:r>
            <a:r>
              <a:rPr lang="de-DE" sz="1400" dirty="0" err="1">
                <a:solidFill>
                  <a:schemeClr val="bg1"/>
                </a:solidFill>
              </a:rPr>
              <a:t>balance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20" name="Grafik 17" descr="Marke folgen mit einfarbiger Füllung">
            <a:extLst>
              <a:ext uri="{FF2B5EF4-FFF2-40B4-BE49-F238E27FC236}">
                <a16:creationId xmlns:a16="http://schemas.microsoft.com/office/drawing/2014/main" id="{2BCAA7F0-D056-1A11-0FA2-7BAB6BEE7D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7283" y="4055211"/>
            <a:ext cx="564046" cy="564046"/>
          </a:xfrm>
          <a:prstGeom prst="rect">
            <a:avLst/>
          </a:prstGeom>
        </p:spPr>
      </p:pic>
      <p:pic>
        <p:nvPicPr>
          <p:cNvPr id="21" name="Grafik 18" descr="Gewichte ungleich mit einfarbiger Füllung">
            <a:extLst>
              <a:ext uri="{FF2B5EF4-FFF2-40B4-BE49-F238E27FC236}">
                <a16:creationId xmlns:a16="http://schemas.microsoft.com/office/drawing/2014/main" id="{AA592A1C-0220-2474-8725-CEAFD924C3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60470" y="4053890"/>
            <a:ext cx="564046" cy="564046"/>
          </a:xfrm>
          <a:prstGeom prst="rect">
            <a:avLst/>
          </a:prstGeom>
        </p:spPr>
      </p:pic>
      <p:grpSp>
        <p:nvGrpSpPr>
          <p:cNvPr id="22" name="Gruppieren 19">
            <a:extLst>
              <a:ext uri="{FF2B5EF4-FFF2-40B4-BE49-F238E27FC236}">
                <a16:creationId xmlns:a16="http://schemas.microsoft.com/office/drawing/2014/main" id="{43430A81-3949-E4C8-F97B-4AC12F8D1116}"/>
              </a:ext>
            </a:extLst>
          </p:cNvPr>
          <p:cNvGrpSpPr/>
          <p:nvPr/>
        </p:nvGrpSpPr>
        <p:grpSpPr>
          <a:xfrm>
            <a:off x="5185822" y="3884391"/>
            <a:ext cx="918744" cy="733545"/>
            <a:chOff x="5490574" y="2626524"/>
            <a:chExt cx="918744" cy="733545"/>
          </a:xfrm>
        </p:grpSpPr>
        <p:pic>
          <p:nvPicPr>
            <p:cNvPr id="23" name="Grafik 20" descr="Bewertung 3 Sterne mit einfarbiger Füllung">
              <a:extLst>
                <a:ext uri="{FF2B5EF4-FFF2-40B4-BE49-F238E27FC236}">
                  <a16:creationId xmlns:a16="http://schemas.microsoft.com/office/drawing/2014/main" id="{F4113853-9B97-A662-8546-FE5D48365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907747" y="2626524"/>
              <a:ext cx="501571" cy="501571"/>
            </a:xfrm>
            <a:prstGeom prst="rect">
              <a:avLst/>
            </a:prstGeom>
          </p:spPr>
        </p:pic>
        <p:pic>
          <p:nvPicPr>
            <p:cNvPr id="24" name="Grafik 21" descr="Benutzer mit einfarbiger Füllung">
              <a:extLst>
                <a:ext uri="{FF2B5EF4-FFF2-40B4-BE49-F238E27FC236}">
                  <a16:creationId xmlns:a16="http://schemas.microsoft.com/office/drawing/2014/main" id="{94893D9A-D5BC-D515-35DE-DA4FB3C15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490574" y="2856069"/>
              <a:ext cx="504000" cy="504000"/>
            </a:xfrm>
            <a:prstGeom prst="rect">
              <a:avLst/>
            </a:prstGeom>
          </p:spPr>
        </p:pic>
      </p:grpSp>
      <p:pic>
        <p:nvPicPr>
          <p:cNvPr id="25" name="Grafik 22" descr="Registrierkasse mit einfarbiger Füllung">
            <a:extLst>
              <a:ext uri="{FF2B5EF4-FFF2-40B4-BE49-F238E27FC236}">
                <a16:creationId xmlns:a16="http://schemas.microsoft.com/office/drawing/2014/main" id="{25E0604C-4989-586B-7A45-D03AD59C70C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81089" y="4008864"/>
            <a:ext cx="654097" cy="65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2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7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1400" dirty="0"/>
              <a:t>With </a:t>
            </a:r>
            <a:r>
              <a:rPr lang="de-DE" sz="1400" i="1" dirty="0"/>
              <a:t>non-</a:t>
            </a:r>
            <a:r>
              <a:rPr lang="de-DE" sz="1400" i="1" dirty="0" err="1"/>
              <a:t>convexities</a:t>
            </a:r>
            <a:r>
              <a:rPr lang="de-DE" sz="1400" dirty="0"/>
              <a:t> </a:t>
            </a:r>
            <a:r>
              <a:rPr lang="de-DE" sz="1400" dirty="0" err="1"/>
              <a:t>present</a:t>
            </a:r>
            <a:r>
              <a:rPr lang="de-DE" sz="1400" dirty="0"/>
              <a:t>, a </a:t>
            </a:r>
            <a:r>
              <a:rPr lang="de-DE" sz="1400" dirty="0" err="1"/>
              <a:t>Walrasian</a:t>
            </a:r>
            <a:r>
              <a:rPr lang="de-DE" sz="1400" dirty="0"/>
              <a:t> </a:t>
            </a:r>
            <a:r>
              <a:rPr lang="de-DE" sz="1400" dirty="0" err="1"/>
              <a:t>equilibrium</a:t>
            </a:r>
            <a:r>
              <a:rPr lang="de-DE" sz="1400" dirty="0"/>
              <a:t> </a:t>
            </a:r>
            <a:r>
              <a:rPr lang="de-DE" sz="1400" dirty="0" err="1"/>
              <a:t>might</a:t>
            </a:r>
            <a:r>
              <a:rPr lang="de-DE" sz="1400" dirty="0"/>
              <a:t> not </a:t>
            </a:r>
            <a:r>
              <a:rPr lang="de-DE" sz="1400" dirty="0" err="1"/>
              <a:t>exist</a:t>
            </a:r>
            <a:r>
              <a:rPr lang="de-DE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i="1" dirty="0"/>
          </a:p>
          <a:p>
            <a:r>
              <a:rPr lang="de-DE" sz="1400" b="1" dirty="0"/>
              <a:t>						</a:t>
            </a:r>
          </a:p>
          <a:p>
            <a:r>
              <a:rPr lang="de-DE" sz="1400" b="1" dirty="0"/>
              <a:t>						        </a:t>
            </a:r>
          </a:p>
          <a:p>
            <a:r>
              <a:rPr lang="de-DE" sz="1400" b="1" dirty="0"/>
              <a:t>						         Clearing </a:t>
            </a:r>
            <a:r>
              <a:rPr lang="de-DE" sz="1400" b="1" dirty="0" err="1"/>
              <a:t>the</a:t>
            </a:r>
            <a:r>
              <a:rPr lang="de-DE" sz="1400" b="1" dirty="0"/>
              <a:t> </a:t>
            </a:r>
            <a:r>
              <a:rPr lang="de-DE" sz="1400" b="1" dirty="0" err="1"/>
              <a:t>market</a:t>
            </a:r>
            <a:endParaRPr lang="de-DE" sz="1400" b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err="1"/>
              <a:t>Walrasian</a:t>
            </a:r>
            <a:r>
              <a:rPr lang="en-US" dirty="0"/>
              <a:t> equilibria in electricity markets?</a:t>
            </a:r>
            <a:endParaRPr lang="de-DE" sz="30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A8D5AD-C6DE-E3C3-FD62-CE2624F50E7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1162" y="6473313"/>
            <a:ext cx="7512802" cy="365125"/>
          </a:xfrm>
        </p:spPr>
        <p:txBody>
          <a:bodyPr/>
          <a:lstStyle/>
          <a:p>
            <a:r>
              <a:rPr lang="en-US" sz="1000" dirty="0"/>
              <a:t>Solving Large-Scale Electricity Market Pricing Problems in Polynomial Time | </a:t>
            </a:r>
            <a:r>
              <a:rPr lang="en-US" sz="1000" dirty="0" err="1"/>
              <a:t>Ahunbay</a:t>
            </a:r>
            <a:r>
              <a:rPr lang="en-US" sz="1000" dirty="0"/>
              <a:t>, </a:t>
            </a:r>
            <a:r>
              <a:rPr lang="en-US" sz="1000" dirty="0" err="1"/>
              <a:t>Bichler</a:t>
            </a:r>
            <a:r>
              <a:rPr lang="en-US" sz="1000" dirty="0"/>
              <a:t>, Dobos, </a:t>
            </a:r>
            <a:r>
              <a:rPr lang="en-US" sz="1000" dirty="0" err="1"/>
              <a:t>Kn</a:t>
            </a:r>
            <a:r>
              <a:rPr lang="de-DE" sz="1000" dirty="0" err="1"/>
              <a:t>örr</a:t>
            </a:r>
            <a:endParaRPr lang="en-US" sz="1000" dirty="0"/>
          </a:p>
        </p:txBody>
      </p:sp>
      <p:pic>
        <p:nvPicPr>
          <p:cNvPr id="31" name="Grafik 35" descr="Marke folgen mit einfarbiger Füllung">
            <a:extLst>
              <a:ext uri="{FF2B5EF4-FFF2-40B4-BE49-F238E27FC236}">
                <a16:creationId xmlns:a16="http://schemas.microsoft.com/office/drawing/2014/main" id="{45C10CBC-1598-9B58-3210-C7BC54CB7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7635" y="3126456"/>
            <a:ext cx="564046" cy="564046"/>
          </a:xfrm>
          <a:prstGeom prst="rect">
            <a:avLst/>
          </a:prstGeom>
        </p:spPr>
      </p:pic>
      <p:pic>
        <p:nvPicPr>
          <p:cNvPr id="32" name="Grafik 36" descr="Gewichte ungleich mit einfarbiger Füllung">
            <a:extLst>
              <a:ext uri="{FF2B5EF4-FFF2-40B4-BE49-F238E27FC236}">
                <a16:creationId xmlns:a16="http://schemas.microsoft.com/office/drawing/2014/main" id="{2CEF13CF-92A6-2BF6-F82A-2AD9157263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00378" y="3176658"/>
            <a:ext cx="513845" cy="513845"/>
          </a:xfrm>
          <a:prstGeom prst="rect">
            <a:avLst/>
          </a:prstGeom>
        </p:spPr>
      </p:pic>
      <p:grpSp>
        <p:nvGrpSpPr>
          <p:cNvPr id="33" name="Gruppieren 37">
            <a:extLst>
              <a:ext uri="{FF2B5EF4-FFF2-40B4-BE49-F238E27FC236}">
                <a16:creationId xmlns:a16="http://schemas.microsoft.com/office/drawing/2014/main" id="{26D7F2CB-2F05-CED9-1794-855F4340D064}"/>
              </a:ext>
            </a:extLst>
          </p:cNvPr>
          <p:cNvGrpSpPr/>
          <p:nvPr/>
        </p:nvGrpSpPr>
        <p:grpSpPr>
          <a:xfrm>
            <a:off x="6038555" y="4038501"/>
            <a:ext cx="918744" cy="733545"/>
            <a:chOff x="5490574" y="2626524"/>
            <a:chExt cx="918744" cy="733545"/>
          </a:xfrm>
        </p:grpSpPr>
        <p:pic>
          <p:nvPicPr>
            <p:cNvPr id="34" name="Grafik 38" descr="Bewertung 3 Sterne mit einfarbiger Füllung">
              <a:extLst>
                <a:ext uri="{FF2B5EF4-FFF2-40B4-BE49-F238E27FC236}">
                  <a16:creationId xmlns:a16="http://schemas.microsoft.com/office/drawing/2014/main" id="{94CC3029-D96F-BB52-9F6D-F2003CA8CD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907747" y="2626524"/>
              <a:ext cx="501571" cy="501571"/>
            </a:xfrm>
            <a:prstGeom prst="rect">
              <a:avLst/>
            </a:prstGeom>
          </p:spPr>
        </p:pic>
        <p:pic>
          <p:nvPicPr>
            <p:cNvPr id="35" name="Grafik 39" descr="Benutzer mit einfarbiger Füllung">
              <a:extLst>
                <a:ext uri="{FF2B5EF4-FFF2-40B4-BE49-F238E27FC236}">
                  <a16:creationId xmlns:a16="http://schemas.microsoft.com/office/drawing/2014/main" id="{C0A73240-9761-2717-7822-57142314918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490574" y="2856069"/>
              <a:ext cx="504000" cy="504000"/>
            </a:xfrm>
            <a:prstGeom prst="rect">
              <a:avLst/>
            </a:prstGeom>
          </p:spPr>
        </p:pic>
      </p:grpSp>
      <p:pic>
        <p:nvPicPr>
          <p:cNvPr id="36" name="Grafik 40" descr="Registrierkasse mit einfarbiger Füllung">
            <a:extLst>
              <a:ext uri="{FF2B5EF4-FFF2-40B4-BE49-F238E27FC236}">
                <a16:creationId xmlns:a16="http://schemas.microsoft.com/office/drawing/2014/main" id="{FE368794-21EF-D545-2180-0C3CF48BA9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65127" y="3106531"/>
            <a:ext cx="654097" cy="654097"/>
          </a:xfrm>
          <a:prstGeom prst="rect">
            <a:avLst/>
          </a:prstGeom>
        </p:spPr>
      </p:pic>
      <p:pic>
        <p:nvPicPr>
          <p:cNvPr id="37" name="Grafik 41" descr="Häkchen Silhouette">
            <a:extLst>
              <a:ext uri="{FF2B5EF4-FFF2-40B4-BE49-F238E27FC236}">
                <a16:creationId xmlns:a16="http://schemas.microsoft.com/office/drawing/2014/main" id="{219E89F0-283F-B0CA-9042-3F7B7A7724A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046613" y="3696512"/>
            <a:ext cx="486091" cy="486091"/>
          </a:xfrm>
          <a:prstGeom prst="rect">
            <a:avLst/>
          </a:prstGeom>
        </p:spPr>
      </p:pic>
      <p:pic>
        <p:nvPicPr>
          <p:cNvPr id="38" name="Grafik 42" descr="Häkchen Silhouette">
            <a:extLst>
              <a:ext uri="{FF2B5EF4-FFF2-40B4-BE49-F238E27FC236}">
                <a16:creationId xmlns:a16="http://schemas.microsoft.com/office/drawing/2014/main" id="{D7F9E48B-5483-6765-48FC-7B8F7DBF2D0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25359" y="3712721"/>
            <a:ext cx="486091" cy="486091"/>
          </a:xfrm>
          <a:prstGeom prst="rect">
            <a:avLst/>
          </a:prstGeom>
        </p:spPr>
      </p:pic>
      <p:pic>
        <p:nvPicPr>
          <p:cNvPr id="40" name="Grafik 44" descr="Schließen Silhouette">
            <a:extLst>
              <a:ext uri="{FF2B5EF4-FFF2-40B4-BE49-F238E27FC236}">
                <a16:creationId xmlns:a16="http://schemas.microsoft.com/office/drawing/2014/main" id="{023715B3-8093-B222-D436-EEADB22387A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012490" y="4737884"/>
            <a:ext cx="585937" cy="5859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1" name="Inhaltsplatzhalter 1">
                <a:extLst>
                  <a:ext uri="{FF2B5EF4-FFF2-40B4-BE49-F238E27FC236}">
                    <a16:creationId xmlns:a16="http://schemas.microsoft.com/office/drawing/2014/main" id="{DB9FF440-8E25-6EE7-5B62-1A610C784F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00533" y="4285709"/>
                <a:ext cx="1785435" cy="86606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>
                <a:lvl1pPr algn="l" rtl="0" eaLnBrk="0" fontAlgn="base" hangingPunct="0">
                  <a:lnSpc>
                    <a:spcPct val="114000"/>
                  </a:lnSpc>
                  <a:spcBef>
                    <a:spcPct val="0"/>
                  </a:spcBef>
                  <a:spcAft>
                    <a:spcPct val="0"/>
                  </a:spcAft>
                  <a:defRPr lang="de-DE" sz="14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6213" indent="-176213" algn="l" rtl="0" eaLnBrk="0" fontAlgn="base" hangingPunct="0">
                  <a:lnSpc>
                    <a:spcPct val="114000"/>
                  </a:lnSpc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buChar char="•"/>
                  <a:defRPr lang="de-DE" sz="14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60363" indent="-184150" algn="l" rtl="0" eaLnBrk="0" fontAlgn="base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Font typeface="Symbol" pitchFamily="18" charset="2"/>
                  <a:buChar char="-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8163" indent="-177800" algn="l" rtl="0" eaLnBrk="0" fontAlgn="base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Font typeface="Symbol" pitchFamily="18" charset="2"/>
                  <a:buChar char="-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4375" indent="-176213" algn="l" rtl="0" eaLnBrk="0" fontAlgn="base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Font typeface="Symbol" pitchFamily="18" charset="2"/>
                  <a:buChar char="-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Seller makes a loss at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≤$10</m:t>
                    </m:r>
                  </m:oMath>
                </a14:m>
                <a:endParaRPr lang="de-DE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Buyer 1 makes a loss at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&gt;$10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1" name="Inhaltsplatzhalter 1">
                <a:extLst>
                  <a:ext uri="{FF2B5EF4-FFF2-40B4-BE49-F238E27FC236}">
                    <a16:creationId xmlns:a16="http://schemas.microsoft.com/office/drawing/2014/main" id="{DB9FF440-8E25-6EE7-5B62-1A610C784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0533" y="4285709"/>
                <a:ext cx="1785435" cy="866062"/>
              </a:xfrm>
              <a:prstGeom prst="rect">
                <a:avLst/>
              </a:prstGeom>
              <a:blipFill>
                <a:blip r:embed="rId16"/>
                <a:stretch>
                  <a:fillRect l="-5674" t="-5797" b="-2173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3" name="Graphic 42" descr="Question Mark outline">
            <a:extLst>
              <a:ext uri="{FF2B5EF4-FFF2-40B4-BE49-F238E27FC236}">
                <a16:creationId xmlns:a16="http://schemas.microsoft.com/office/drawing/2014/main" id="{62DFC4E8-04C3-AFA1-7555-25DE68309B8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391630" y="3686102"/>
            <a:ext cx="581059" cy="581059"/>
          </a:xfrm>
          <a:prstGeom prst="rect">
            <a:avLst/>
          </a:prstGeom>
        </p:spPr>
      </p:pic>
      <p:grpSp>
        <p:nvGrpSpPr>
          <p:cNvPr id="12" name="Gruppieren 23">
            <a:extLst>
              <a:ext uri="{FF2B5EF4-FFF2-40B4-BE49-F238E27FC236}">
                <a16:creationId xmlns:a16="http://schemas.microsoft.com/office/drawing/2014/main" id="{BE0D724F-9573-899D-2AC2-5C9B822A1625}"/>
              </a:ext>
            </a:extLst>
          </p:cNvPr>
          <p:cNvGrpSpPr/>
          <p:nvPr/>
        </p:nvGrpSpPr>
        <p:grpSpPr>
          <a:xfrm>
            <a:off x="609096" y="2964102"/>
            <a:ext cx="4964208" cy="2025057"/>
            <a:chOff x="611187" y="2031954"/>
            <a:chExt cx="7232529" cy="2950376"/>
          </a:xfrm>
        </p:grpSpPr>
        <p:sp>
          <p:nvSpPr>
            <p:cNvPr id="13" name="Rechteck 24">
              <a:extLst>
                <a:ext uri="{FF2B5EF4-FFF2-40B4-BE49-F238E27FC236}">
                  <a16:creationId xmlns:a16="http://schemas.microsoft.com/office/drawing/2014/main" id="{0384FA48-7803-94A3-B406-D46480070191}"/>
                </a:ext>
              </a:extLst>
            </p:cNvPr>
            <p:cNvSpPr/>
            <p:nvPr/>
          </p:nvSpPr>
          <p:spPr>
            <a:xfrm>
              <a:off x="5702879" y="2538432"/>
              <a:ext cx="2140837" cy="912000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C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>
                <a:defRPr/>
              </a:pPr>
              <a:r>
                <a:rPr lang="en-US" sz="1200" kern="0" dirty="0">
                  <a:solidFill>
                    <a:srgbClr val="004276"/>
                  </a:solidFill>
                  <a:latin typeface="Arial"/>
                  <a:cs typeface="Arial" panose="020B0604020202020204" pitchFamily="34" charset="0"/>
                </a:rPr>
                <a:t>Indivisible </a:t>
              </a:r>
            </a:p>
            <a:p>
              <a:pPr algn="ctr" defTabSz="1219170">
                <a:defRPr/>
              </a:pPr>
              <a:r>
                <a:rPr lang="en-US" sz="1200" kern="0" dirty="0">
                  <a:solidFill>
                    <a:srgbClr val="004276"/>
                  </a:solidFill>
                  <a:latin typeface="Arial"/>
                  <a:cs typeface="Arial" panose="020B0604020202020204" pitchFamily="34" charset="0"/>
                </a:rPr>
                <a:t>1 Unit</a:t>
              </a:r>
            </a:p>
            <a:p>
              <a:pPr algn="ctr" defTabSz="1219170">
                <a:defRPr/>
              </a:pPr>
              <a:r>
                <a:rPr lang="en-US" sz="1200" kern="0" dirty="0">
                  <a:solidFill>
                    <a:srgbClr val="004276"/>
                  </a:solidFill>
                  <a:latin typeface="Arial"/>
                  <a:cs typeface="Arial" panose="020B0604020202020204" pitchFamily="34" charset="0"/>
                </a:rPr>
                <a:t>$10</a:t>
              </a:r>
            </a:p>
          </p:txBody>
        </p:sp>
        <p:sp>
          <p:nvSpPr>
            <p:cNvPr id="14" name="Rechteck 25">
              <a:extLst>
                <a:ext uri="{FF2B5EF4-FFF2-40B4-BE49-F238E27FC236}">
                  <a16:creationId xmlns:a16="http://schemas.microsoft.com/office/drawing/2014/main" id="{A764C745-B015-DFD2-617D-4DB693DB9643}"/>
                </a:ext>
              </a:extLst>
            </p:cNvPr>
            <p:cNvSpPr/>
            <p:nvPr/>
          </p:nvSpPr>
          <p:spPr>
            <a:xfrm>
              <a:off x="611187" y="3333569"/>
              <a:ext cx="2140837" cy="912000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>
                <a:defRPr/>
              </a:pPr>
              <a:r>
                <a:rPr lang="en-US" sz="1200" kern="0" dirty="0">
                  <a:solidFill>
                    <a:srgbClr val="004276"/>
                  </a:solidFill>
                  <a:latin typeface="Arial"/>
                  <a:cs typeface="Arial" panose="020B0604020202020204" pitchFamily="34" charset="0"/>
                </a:rPr>
                <a:t>Indivisible </a:t>
              </a:r>
            </a:p>
            <a:p>
              <a:pPr algn="ctr" defTabSz="1219170">
                <a:defRPr/>
              </a:pPr>
              <a:r>
                <a:rPr lang="en-US" sz="1200" kern="0" dirty="0">
                  <a:solidFill>
                    <a:srgbClr val="004276"/>
                  </a:solidFill>
                  <a:latin typeface="Arial"/>
                  <a:cs typeface="Arial" panose="020B0604020202020204" pitchFamily="34" charset="0"/>
                </a:rPr>
                <a:t>2 Units</a:t>
              </a:r>
            </a:p>
            <a:p>
              <a:pPr algn="ctr" defTabSz="1219170">
                <a:defRPr/>
              </a:pPr>
              <a:r>
                <a:rPr lang="en-US" sz="1200" kern="0" dirty="0">
                  <a:solidFill>
                    <a:srgbClr val="004276"/>
                  </a:solidFill>
                  <a:latin typeface="Arial"/>
                  <a:cs typeface="Arial" panose="020B0604020202020204" pitchFamily="34" charset="0"/>
                </a:rPr>
                <a:t>$30</a:t>
              </a:r>
            </a:p>
          </p:txBody>
        </p:sp>
        <p:sp>
          <p:nvSpPr>
            <p:cNvPr id="15" name="Rechteck 26">
              <a:extLst>
                <a:ext uri="{FF2B5EF4-FFF2-40B4-BE49-F238E27FC236}">
                  <a16:creationId xmlns:a16="http://schemas.microsoft.com/office/drawing/2014/main" id="{8A055266-EE0B-B821-2DC2-45D7A94C68D3}"/>
                </a:ext>
              </a:extLst>
            </p:cNvPr>
            <p:cNvSpPr/>
            <p:nvPr/>
          </p:nvSpPr>
          <p:spPr>
            <a:xfrm>
              <a:off x="611191" y="2827090"/>
              <a:ext cx="2140833" cy="506479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>
                <a:defRPr/>
              </a:pPr>
              <a:r>
                <a:rPr lang="en-US" sz="1200" kern="0" dirty="0">
                  <a:solidFill>
                    <a:prstClr val="white"/>
                  </a:solidFill>
                  <a:latin typeface="Arial"/>
                  <a:cs typeface="Arial" panose="020B0604020202020204" pitchFamily="34" charset="0"/>
                </a:rPr>
                <a:t>Seller</a:t>
              </a:r>
            </a:p>
          </p:txBody>
        </p:sp>
        <p:sp>
          <p:nvSpPr>
            <p:cNvPr id="16" name="Ellipse 27">
              <a:extLst>
                <a:ext uri="{FF2B5EF4-FFF2-40B4-BE49-F238E27FC236}">
                  <a16:creationId xmlns:a16="http://schemas.microsoft.com/office/drawing/2014/main" id="{8836AEA4-9B9D-1C74-EE48-C9B6A93ED83A}"/>
                </a:ext>
              </a:extLst>
            </p:cNvPr>
            <p:cNvSpPr/>
            <p:nvPr/>
          </p:nvSpPr>
          <p:spPr>
            <a:xfrm>
              <a:off x="3845211" y="3130814"/>
              <a:ext cx="655399" cy="639237"/>
            </a:xfrm>
            <a:prstGeom prst="ellipse">
              <a:avLst/>
            </a:prstGeom>
            <a:solidFill>
              <a:srgbClr val="92D050"/>
            </a:solidFill>
            <a:ln w="25400" cap="flat" cmpd="sng" algn="ctr">
              <a:solidFill>
                <a:srgbClr val="92D05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>
                <a:defRPr/>
              </a:pPr>
              <a:r>
                <a:rPr lang="en-US" sz="1200" kern="0" dirty="0">
                  <a:solidFill>
                    <a:prstClr val="white"/>
                  </a:solidFill>
                  <a:latin typeface="Arial"/>
                  <a:cs typeface="Arial" panose="020B0604020202020204" pitchFamily="34" charset="0"/>
                </a:rPr>
                <a:t>?</a:t>
              </a:r>
            </a:p>
          </p:txBody>
        </p:sp>
        <p:cxnSp>
          <p:nvCxnSpPr>
            <p:cNvPr id="17" name="Gerade Verbindung mit Pfeil 28">
              <a:extLst>
                <a:ext uri="{FF2B5EF4-FFF2-40B4-BE49-F238E27FC236}">
                  <a16:creationId xmlns:a16="http://schemas.microsoft.com/office/drawing/2014/main" id="{6D506838-80CB-AD2E-4373-B7E47591306D}"/>
                </a:ext>
              </a:extLst>
            </p:cNvPr>
            <p:cNvCxnSpPr/>
            <p:nvPr/>
          </p:nvCxnSpPr>
          <p:spPr>
            <a:xfrm>
              <a:off x="2838432" y="3450432"/>
              <a:ext cx="895725" cy="0"/>
            </a:xfrm>
            <a:prstGeom prst="straightConnector1">
              <a:avLst/>
            </a:prstGeom>
            <a:noFill/>
            <a:ln w="50800" cap="flat" cmpd="sng" algn="ctr">
              <a:solidFill>
                <a:srgbClr val="005293">
                  <a:lumMod val="50000"/>
                </a:srgbClr>
              </a:solidFill>
              <a:prstDash val="solid"/>
              <a:tailEnd type="triangle"/>
            </a:ln>
            <a:effectLst/>
          </p:spPr>
        </p:cxnSp>
        <p:sp>
          <p:nvSpPr>
            <p:cNvPr id="18" name="Rechteck 29">
              <a:extLst>
                <a:ext uri="{FF2B5EF4-FFF2-40B4-BE49-F238E27FC236}">
                  <a16:creationId xmlns:a16="http://schemas.microsoft.com/office/drawing/2014/main" id="{9CD55505-DD65-4DC3-214C-75ACF8BB5D16}"/>
                </a:ext>
              </a:extLst>
            </p:cNvPr>
            <p:cNvSpPr/>
            <p:nvPr/>
          </p:nvSpPr>
          <p:spPr>
            <a:xfrm>
              <a:off x="5702879" y="4070330"/>
              <a:ext cx="2140837" cy="912000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C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>
                <a:defRPr/>
              </a:pPr>
              <a:r>
                <a:rPr lang="en-US" sz="1200" kern="0" dirty="0">
                  <a:solidFill>
                    <a:srgbClr val="004276"/>
                  </a:solidFill>
                  <a:latin typeface="Arial"/>
                  <a:cs typeface="Arial" panose="020B0604020202020204" pitchFamily="34" charset="0"/>
                </a:rPr>
                <a:t>Indivisible </a:t>
              </a:r>
            </a:p>
            <a:p>
              <a:pPr algn="ctr" defTabSz="1219170">
                <a:defRPr/>
              </a:pPr>
              <a:r>
                <a:rPr lang="en-US" sz="1200" kern="0" dirty="0">
                  <a:solidFill>
                    <a:srgbClr val="004276"/>
                  </a:solidFill>
                  <a:latin typeface="Arial"/>
                  <a:cs typeface="Arial" panose="020B0604020202020204" pitchFamily="34" charset="0"/>
                </a:rPr>
                <a:t>1 Unit</a:t>
              </a:r>
            </a:p>
            <a:p>
              <a:pPr algn="ctr" defTabSz="1219170">
                <a:defRPr/>
              </a:pPr>
              <a:r>
                <a:rPr lang="en-US" sz="1200" kern="0" dirty="0">
                  <a:solidFill>
                    <a:srgbClr val="004276"/>
                  </a:solidFill>
                  <a:latin typeface="Arial"/>
                  <a:cs typeface="Arial" panose="020B0604020202020204" pitchFamily="34" charset="0"/>
                </a:rPr>
                <a:t>$28</a:t>
              </a:r>
            </a:p>
          </p:txBody>
        </p:sp>
        <p:sp>
          <p:nvSpPr>
            <p:cNvPr id="19" name="Rechteck 30">
              <a:extLst>
                <a:ext uri="{FF2B5EF4-FFF2-40B4-BE49-F238E27FC236}">
                  <a16:creationId xmlns:a16="http://schemas.microsoft.com/office/drawing/2014/main" id="{53D35D6E-3578-C02C-A9FF-2B1BBD0F6693}"/>
                </a:ext>
              </a:extLst>
            </p:cNvPr>
            <p:cNvSpPr/>
            <p:nvPr/>
          </p:nvSpPr>
          <p:spPr>
            <a:xfrm>
              <a:off x="5702883" y="3563852"/>
              <a:ext cx="2140833" cy="506479"/>
            </a:xfrm>
            <a:prstGeom prst="rect">
              <a:avLst/>
            </a:prstGeom>
            <a:solidFill>
              <a:srgbClr val="C00000"/>
            </a:solidFill>
            <a:ln w="25400" cap="flat" cmpd="sng" algn="ctr">
              <a:solidFill>
                <a:srgbClr val="C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>
                <a:defRPr/>
              </a:pPr>
              <a:r>
                <a:rPr lang="en-US" sz="1200" kern="0" dirty="0">
                  <a:solidFill>
                    <a:prstClr val="white"/>
                  </a:solidFill>
                  <a:latin typeface="Arial"/>
                  <a:cs typeface="Arial" panose="020B0604020202020204" pitchFamily="34" charset="0"/>
                </a:rPr>
                <a:t>Buyer 2</a:t>
              </a:r>
            </a:p>
          </p:txBody>
        </p:sp>
        <p:cxnSp>
          <p:nvCxnSpPr>
            <p:cNvPr id="20" name="Gerade Verbindung mit Pfeil 31">
              <a:extLst>
                <a:ext uri="{FF2B5EF4-FFF2-40B4-BE49-F238E27FC236}">
                  <a16:creationId xmlns:a16="http://schemas.microsoft.com/office/drawing/2014/main" id="{9260BB57-6241-07CF-AC44-A25FEA09BF7F}"/>
                </a:ext>
              </a:extLst>
            </p:cNvPr>
            <p:cNvCxnSpPr/>
            <p:nvPr/>
          </p:nvCxnSpPr>
          <p:spPr>
            <a:xfrm flipH="1">
              <a:off x="4673960" y="2718440"/>
              <a:ext cx="919840" cy="539749"/>
            </a:xfrm>
            <a:prstGeom prst="straightConnector1">
              <a:avLst/>
            </a:prstGeom>
            <a:noFill/>
            <a:ln w="50800" cap="flat" cmpd="sng" algn="ctr">
              <a:solidFill>
                <a:srgbClr val="005293">
                  <a:lumMod val="5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1" name="Gerade Verbindung mit Pfeil 32">
              <a:extLst>
                <a:ext uri="{FF2B5EF4-FFF2-40B4-BE49-F238E27FC236}">
                  <a16:creationId xmlns:a16="http://schemas.microsoft.com/office/drawing/2014/main" id="{E9D0745A-F0B5-E091-3B21-540A56FF633F}"/>
                </a:ext>
              </a:extLst>
            </p:cNvPr>
            <p:cNvCxnSpPr/>
            <p:nvPr/>
          </p:nvCxnSpPr>
          <p:spPr>
            <a:xfrm flipH="1" flipV="1">
              <a:off x="4680423" y="3770051"/>
              <a:ext cx="913377" cy="475519"/>
            </a:xfrm>
            <a:prstGeom prst="straightConnector1">
              <a:avLst/>
            </a:prstGeom>
            <a:noFill/>
            <a:ln w="50800" cap="flat" cmpd="sng" algn="ctr">
              <a:solidFill>
                <a:srgbClr val="005293">
                  <a:lumMod val="50000"/>
                </a:srgbClr>
              </a:solidFill>
              <a:prstDash val="solid"/>
              <a:tailEnd type="triangle"/>
            </a:ln>
            <a:effectLst/>
          </p:spPr>
        </p:cxnSp>
        <p:sp>
          <p:nvSpPr>
            <p:cNvPr id="22" name="Rechteck 33">
              <a:extLst>
                <a:ext uri="{FF2B5EF4-FFF2-40B4-BE49-F238E27FC236}">
                  <a16:creationId xmlns:a16="http://schemas.microsoft.com/office/drawing/2014/main" id="{46D7B27F-D421-FC77-0239-F14648537CC2}"/>
                </a:ext>
              </a:extLst>
            </p:cNvPr>
            <p:cNvSpPr/>
            <p:nvPr/>
          </p:nvSpPr>
          <p:spPr>
            <a:xfrm>
              <a:off x="5702883" y="2031954"/>
              <a:ext cx="2140833" cy="506479"/>
            </a:xfrm>
            <a:prstGeom prst="rect">
              <a:avLst/>
            </a:prstGeom>
            <a:solidFill>
              <a:srgbClr val="C00000"/>
            </a:solidFill>
            <a:ln w="25400" cap="flat" cmpd="sng" algn="ctr">
              <a:solidFill>
                <a:srgbClr val="C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>
                <a:defRPr/>
              </a:pPr>
              <a:r>
                <a:rPr lang="en-US" sz="1200" kern="0" dirty="0">
                  <a:solidFill>
                    <a:prstClr val="white"/>
                  </a:solidFill>
                  <a:latin typeface="Arial"/>
                  <a:cs typeface="Arial" panose="020B0604020202020204" pitchFamily="34" charset="0"/>
                </a:rPr>
                <a:t>Buyer 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0273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400" dirty="0" err="1"/>
                  <a:t>No</a:t>
                </a:r>
                <a:r>
                  <a:rPr lang="de-DE" sz="1400" dirty="0"/>
                  <a:t> </a:t>
                </a:r>
                <a:r>
                  <a:rPr lang="de-DE" sz="1400" dirty="0" err="1"/>
                  <a:t>guarantee</a:t>
                </a:r>
                <a:r>
                  <a:rPr lang="de-DE" sz="1400" dirty="0"/>
                  <a:t> </a:t>
                </a:r>
                <a:r>
                  <a:rPr lang="de-DE" sz="1400" dirty="0" err="1"/>
                  <a:t>that</a:t>
                </a:r>
                <a:r>
                  <a:rPr lang="de-DE" sz="1400" dirty="0"/>
                  <a:t> </a:t>
                </a:r>
                <a:r>
                  <a:rPr lang="de-DE" sz="1400" dirty="0" err="1"/>
                  <a:t>prices</a:t>
                </a:r>
                <a:r>
                  <a:rPr lang="de-DE" sz="1400" dirty="0"/>
                  <a:t> </a:t>
                </a:r>
                <a:r>
                  <a:rPr lang="de-DE" sz="1400" dirty="0" err="1"/>
                  <a:t>satisfy</a:t>
                </a:r>
                <a:r>
                  <a:rPr lang="de-DE" sz="1400" dirty="0"/>
                  <a:t> </a:t>
                </a:r>
                <a:r>
                  <a:rPr lang="de-DE" sz="1400" dirty="0">
                    <a:solidFill>
                      <a:srgbClr val="0070C0"/>
                    </a:solidFill>
                  </a:rPr>
                  <a:t>individual </a:t>
                </a:r>
                <a:r>
                  <a:rPr lang="de-DE" sz="1400" dirty="0" err="1">
                    <a:solidFill>
                      <a:srgbClr val="0070C0"/>
                    </a:solidFill>
                  </a:rPr>
                  <a:t>rationality</a:t>
                </a:r>
                <a:r>
                  <a:rPr lang="de-DE" sz="1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⇔"/>
                        <m:pos m:val="top"/>
                        <m:ctrlPr>
                          <a:rPr lang="de-DE" sz="140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/>
                    </m:groupChr>
                  </m:oMath>
                </a14:m>
                <a:r>
                  <a:rPr lang="de-DE" sz="1400" dirty="0"/>
                  <a:t> </a:t>
                </a:r>
                <a:r>
                  <a:rPr lang="de-DE" sz="1400" dirty="0" err="1"/>
                  <a:t>market</a:t>
                </a:r>
                <a:r>
                  <a:rPr lang="de-DE" sz="1400" dirty="0"/>
                  <a:t> </a:t>
                </a:r>
                <a:r>
                  <a:rPr lang="de-DE" sz="1400" dirty="0" err="1"/>
                  <a:t>participants</a:t>
                </a:r>
                <a:r>
                  <a:rPr lang="de-DE" sz="1400" dirty="0"/>
                  <a:t> </a:t>
                </a:r>
                <a:r>
                  <a:rPr lang="de-DE" sz="1400" dirty="0" err="1"/>
                  <a:t>make</a:t>
                </a:r>
                <a:r>
                  <a:rPr lang="de-DE" sz="1400" dirty="0"/>
                  <a:t> </a:t>
                </a:r>
                <a:r>
                  <a:rPr lang="de-DE" sz="1400" dirty="0" err="1"/>
                  <a:t>no</a:t>
                </a:r>
                <a:r>
                  <a:rPr lang="de-DE" sz="1400" dirty="0"/>
                  <a:t> </a:t>
                </a:r>
                <a:r>
                  <a:rPr lang="de-DE" sz="1400" dirty="0" err="1"/>
                  <a:t>loss</a:t>
                </a:r>
                <a:r>
                  <a:rPr lang="de-DE" sz="1400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e-DE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e-DE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b="1" dirty="0">
                    <a:solidFill>
                      <a:srgbClr val="0070C0"/>
                    </a:solidFill>
                  </a:rPr>
                  <a:t>Make-whole payments (MWPs): </a:t>
                </a:r>
                <a:r>
                  <a:rPr lang="en-US" sz="1400" dirty="0"/>
                  <a:t>c</a:t>
                </a:r>
                <a:r>
                  <a:rPr lang="de-DE" sz="1400" dirty="0" err="1"/>
                  <a:t>ompensations</a:t>
                </a:r>
                <a:r>
                  <a:rPr lang="de-DE" sz="1400" dirty="0"/>
                  <a:t> </a:t>
                </a:r>
                <a:r>
                  <a:rPr lang="de-DE" sz="1400" dirty="0" err="1"/>
                  <a:t>for</a:t>
                </a:r>
                <a:r>
                  <a:rPr lang="de-DE" sz="1400" dirty="0"/>
                  <a:t> </a:t>
                </a:r>
                <a:r>
                  <a:rPr lang="de-DE" sz="1400" dirty="0" err="1"/>
                  <a:t>the</a:t>
                </a:r>
                <a:r>
                  <a:rPr lang="de-DE" sz="1400" dirty="0"/>
                  <a:t> </a:t>
                </a:r>
                <a:r>
                  <a:rPr lang="de-DE" sz="1400" u="sng" dirty="0"/>
                  <a:t>negative </a:t>
                </a:r>
                <a:r>
                  <a:rPr lang="de-DE" sz="1400" u="sng" dirty="0" err="1"/>
                  <a:t>utility</a:t>
                </a:r>
                <a:r>
                  <a:rPr lang="de-DE" sz="1400" dirty="0"/>
                  <a:t> </a:t>
                </a:r>
                <a:r>
                  <a:rPr lang="de-DE" sz="1400" dirty="0" err="1"/>
                  <a:t>of</a:t>
                </a:r>
                <a:r>
                  <a:rPr lang="de-DE" sz="1400" dirty="0"/>
                  <a:t> a </a:t>
                </a:r>
                <a:r>
                  <a:rPr lang="de-DE" sz="1400" dirty="0" err="1"/>
                  <a:t>market</a:t>
                </a:r>
                <a:r>
                  <a:rPr lang="de-DE" sz="1400" dirty="0"/>
                  <a:t> </a:t>
                </a:r>
                <a:r>
                  <a:rPr lang="de-DE" sz="1400" dirty="0" err="1"/>
                  <a:t>participant</a:t>
                </a:r>
                <a:r>
                  <a:rPr lang="de-DE" sz="1400" dirty="0"/>
                  <a:t>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sz="1400" dirty="0"/>
                  <a:t>, given prices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400" dirty="0"/>
                  <a:t> and allocation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ℓ</m:t>
                        </m:r>
                      </m:sub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1400" dirty="0"/>
                  <a:t>:</a:t>
                </a:r>
              </a:p>
              <a:p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𝑀𝑊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e>
                          <m:sSubSup>
                            <m:sSub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sub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{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sub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0}</m:t>
                      </m:r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ar-AE" sz="1400" dirty="0"/>
              </a:p>
              <a:p>
                <a:endParaRPr sz="1400" dirty="0"/>
              </a:p>
            </p:txBody>
          </p:sp>
        </mc:Choice>
        <mc:Fallback xmlns="">
          <p:sp>
            <p:nvSpPr>
              <p:cNvPr id="2" name="Inhaltsplatzhalt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6" t="-2335" r="-7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9090" y="994334"/>
            <a:ext cx="8508999" cy="410369"/>
          </a:xfrm>
          <a:prstGeom prst="rect">
            <a:avLst/>
          </a:prstGeom>
        </p:spPr>
        <p:txBody>
          <a:bodyPr/>
          <a:lstStyle/>
          <a:p>
            <a:r>
              <a:rPr lang="en-US" sz="3000" dirty="0"/>
              <a:t>Individual rationality in electricity markets</a:t>
            </a:r>
            <a:endParaRPr lang="de-DE" sz="30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A8D5AD-C6DE-E3C3-FD62-CE2624F50E7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1162" y="6473313"/>
            <a:ext cx="7512802" cy="365125"/>
          </a:xfrm>
        </p:spPr>
        <p:txBody>
          <a:bodyPr/>
          <a:lstStyle/>
          <a:p>
            <a:r>
              <a:rPr lang="en-US" sz="1000" dirty="0"/>
              <a:t>Solving Large-Scale Electricity Market Pricing Problems in Polynomial Time | </a:t>
            </a:r>
            <a:r>
              <a:rPr lang="en-US" sz="1000" dirty="0" err="1"/>
              <a:t>Ahunbay</a:t>
            </a:r>
            <a:r>
              <a:rPr lang="en-US" sz="1000" dirty="0"/>
              <a:t>, </a:t>
            </a:r>
            <a:r>
              <a:rPr lang="en-US" sz="1000" dirty="0" err="1"/>
              <a:t>Bichler</a:t>
            </a:r>
            <a:r>
              <a:rPr lang="en-US" sz="1000" dirty="0"/>
              <a:t>, Dobos, </a:t>
            </a:r>
            <a:r>
              <a:rPr lang="en-US" sz="1000" dirty="0" err="1"/>
              <a:t>Kn</a:t>
            </a:r>
            <a:r>
              <a:rPr lang="de-DE" sz="1000" dirty="0" err="1"/>
              <a:t>örr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47752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400" dirty="0" err="1"/>
                  <a:t>No</a:t>
                </a:r>
                <a:r>
                  <a:rPr lang="de-DE" sz="1400" dirty="0"/>
                  <a:t> </a:t>
                </a:r>
                <a:r>
                  <a:rPr lang="de-DE" sz="1400" dirty="0" err="1"/>
                  <a:t>guarantee</a:t>
                </a:r>
                <a:r>
                  <a:rPr lang="de-DE" sz="1400" dirty="0"/>
                  <a:t> </a:t>
                </a:r>
                <a:r>
                  <a:rPr lang="de-DE" sz="1400" dirty="0" err="1"/>
                  <a:t>that</a:t>
                </a:r>
                <a:r>
                  <a:rPr lang="de-DE" sz="1400" dirty="0"/>
                  <a:t> </a:t>
                </a:r>
                <a:r>
                  <a:rPr lang="de-DE" sz="1400" dirty="0" err="1"/>
                  <a:t>prices</a:t>
                </a:r>
                <a:r>
                  <a:rPr lang="de-DE" sz="1400" dirty="0"/>
                  <a:t> </a:t>
                </a:r>
                <a:r>
                  <a:rPr lang="de-DE" sz="1400" dirty="0" err="1"/>
                  <a:t>satisfy</a:t>
                </a:r>
                <a:r>
                  <a:rPr lang="de-DE" sz="1400" dirty="0"/>
                  <a:t> </a:t>
                </a:r>
                <a:r>
                  <a:rPr lang="de-DE" sz="1400" dirty="0">
                    <a:solidFill>
                      <a:srgbClr val="0070C0"/>
                    </a:solidFill>
                  </a:rPr>
                  <a:t>individual </a:t>
                </a:r>
                <a:r>
                  <a:rPr lang="de-DE" sz="1400" dirty="0" err="1">
                    <a:solidFill>
                      <a:srgbClr val="0070C0"/>
                    </a:solidFill>
                  </a:rPr>
                  <a:t>rationality</a:t>
                </a:r>
                <a:r>
                  <a:rPr lang="de-DE" sz="1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⇔"/>
                        <m:pos m:val="top"/>
                        <m:ctrlPr>
                          <a:rPr lang="de-DE" sz="140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/>
                    </m:groupChr>
                  </m:oMath>
                </a14:m>
                <a:r>
                  <a:rPr lang="de-DE" sz="1400" dirty="0"/>
                  <a:t> </a:t>
                </a:r>
                <a:r>
                  <a:rPr lang="de-DE" sz="1400" dirty="0" err="1"/>
                  <a:t>market</a:t>
                </a:r>
                <a:r>
                  <a:rPr lang="de-DE" sz="1400" dirty="0"/>
                  <a:t> </a:t>
                </a:r>
                <a:r>
                  <a:rPr lang="de-DE" sz="1400" dirty="0" err="1"/>
                  <a:t>participants</a:t>
                </a:r>
                <a:r>
                  <a:rPr lang="de-DE" sz="1400" dirty="0"/>
                  <a:t> </a:t>
                </a:r>
                <a:r>
                  <a:rPr lang="de-DE" sz="1400" dirty="0" err="1"/>
                  <a:t>make</a:t>
                </a:r>
                <a:r>
                  <a:rPr lang="de-DE" sz="1400" dirty="0"/>
                  <a:t> </a:t>
                </a:r>
                <a:r>
                  <a:rPr lang="de-DE" sz="1400" dirty="0" err="1"/>
                  <a:t>no</a:t>
                </a:r>
                <a:r>
                  <a:rPr lang="de-DE" sz="1400" dirty="0"/>
                  <a:t> </a:t>
                </a:r>
                <a:r>
                  <a:rPr lang="de-DE" sz="1400" dirty="0" err="1"/>
                  <a:t>loss</a:t>
                </a:r>
                <a:r>
                  <a:rPr lang="de-DE" sz="1400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e-DE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e-DE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b="1" dirty="0">
                    <a:solidFill>
                      <a:srgbClr val="0070C0"/>
                    </a:solidFill>
                  </a:rPr>
                  <a:t>Make-whole payments (MWPs): </a:t>
                </a:r>
                <a:r>
                  <a:rPr lang="en-US" sz="1400" dirty="0"/>
                  <a:t>c</a:t>
                </a:r>
                <a:r>
                  <a:rPr lang="de-DE" sz="1400" dirty="0" err="1"/>
                  <a:t>ompensations</a:t>
                </a:r>
                <a:r>
                  <a:rPr lang="de-DE" sz="1400" dirty="0"/>
                  <a:t> </a:t>
                </a:r>
                <a:r>
                  <a:rPr lang="de-DE" sz="1400" dirty="0" err="1"/>
                  <a:t>for</a:t>
                </a:r>
                <a:r>
                  <a:rPr lang="de-DE" sz="1400" dirty="0"/>
                  <a:t> </a:t>
                </a:r>
                <a:r>
                  <a:rPr lang="de-DE" sz="1400" dirty="0" err="1"/>
                  <a:t>the</a:t>
                </a:r>
                <a:r>
                  <a:rPr lang="de-DE" sz="1400" dirty="0"/>
                  <a:t> </a:t>
                </a:r>
                <a:r>
                  <a:rPr lang="de-DE" sz="1400" u="sng" dirty="0"/>
                  <a:t>negative </a:t>
                </a:r>
                <a:r>
                  <a:rPr lang="de-DE" sz="1400" u="sng" dirty="0" err="1"/>
                  <a:t>utility</a:t>
                </a:r>
                <a:r>
                  <a:rPr lang="de-DE" sz="1400" dirty="0"/>
                  <a:t> </a:t>
                </a:r>
                <a:r>
                  <a:rPr lang="de-DE" sz="1400" dirty="0" err="1"/>
                  <a:t>of</a:t>
                </a:r>
                <a:r>
                  <a:rPr lang="de-DE" sz="1400" dirty="0"/>
                  <a:t> a </a:t>
                </a:r>
                <a:r>
                  <a:rPr lang="de-DE" sz="1400" dirty="0" err="1"/>
                  <a:t>market</a:t>
                </a:r>
                <a:r>
                  <a:rPr lang="de-DE" sz="1400" dirty="0"/>
                  <a:t> </a:t>
                </a:r>
                <a:r>
                  <a:rPr lang="de-DE" sz="1400" dirty="0" err="1"/>
                  <a:t>participant</a:t>
                </a:r>
                <a:r>
                  <a:rPr lang="de-DE" sz="1400" dirty="0"/>
                  <a:t>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sz="1400" dirty="0"/>
                  <a:t>, given prices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400" dirty="0"/>
                  <a:t> and allocation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ℓ</m:t>
                        </m:r>
                      </m:sub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1400" dirty="0"/>
                  <a:t>:</a:t>
                </a:r>
              </a:p>
              <a:p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𝑀𝑊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e>
                          <m:sSubSup>
                            <m:sSub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sub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{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sub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0}</m:t>
                      </m:r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Budget balance: market requires </a:t>
                </a:r>
                <a:r>
                  <a:rPr lang="en-US" sz="1400" u="sng" dirty="0"/>
                  <a:t>no external money</a:t>
                </a:r>
                <a:r>
                  <a:rPr lang="en-US" sz="1400" dirty="0"/>
                  <a:t> to pay MWPs</a:t>
                </a:r>
                <a:endParaRPr lang="ar-AE" sz="1400" dirty="0"/>
              </a:p>
              <a:p>
                <a:endParaRPr lang="ar-AE" sz="1400" dirty="0"/>
              </a:p>
              <a:p>
                <a:endParaRPr sz="1400" dirty="0"/>
              </a:p>
            </p:txBody>
          </p:sp>
        </mc:Choice>
        <mc:Fallback xmlns="">
          <p:sp>
            <p:nvSpPr>
              <p:cNvPr id="2" name="Inhaltsplatzhalt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90" t="-2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9090" y="994334"/>
            <a:ext cx="8508999" cy="410369"/>
          </a:xfrm>
          <a:prstGeom prst="rect">
            <a:avLst/>
          </a:prstGeom>
        </p:spPr>
        <p:txBody>
          <a:bodyPr/>
          <a:lstStyle/>
          <a:p>
            <a:r>
              <a:rPr lang="en-US" sz="3000" dirty="0"/>
              <a:t>Individual rationality in electricity markets</a:t>
            </a:r>
            <a:endParaRPr lang="de-DE" sz="30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A8D5AD-C6DE-E3C3-FD62-CE2624F50E7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1162" y="6473313"/>
            <a:ext cx="7512802" cy="365125"/>
          </a:xfrm>
        </p:spPr>
        <p:txBody>
          <a:bodyPr/>
          <a:lstStyle/>
          <a:p>
            <a:r>
              <a:rPr lang="en-US" sz="1000" dirty="0"/>
              <a:t>Solving Large-Scale Electricity Market Pricing Problems in Polynomial Time | </a:t>
            </a:r>
            <a:r>
              <a:rPr lang="en-US" sz="1000" dirty="0" err="1"/>
              <a:t>Ahunbay</a:t>
            </a:r>
            <a:r>
              <a:rPr lang="en-US" sz="1000" dirty="0"/>
              <a:t>, </a:t>
            </a:r>
            <a:r>
              <a:rPr lang="en-US" sz="1000" dirty="0" err="1"/>
              <a:t>Bichler</a:t>
            </a:r>
            <a:r>
              <a:rPr lang="en-US" sz="1000" dirty="0"/>
              <a:t>, Dobos, </a:t>
            </a:r>
            <a:r>
              <a:rPr lang="en-US" sz="1000" dirty="0" err="1"/>
              <a:t>Kn</a:t>
            </a:r>
            <a:r>
              <a:rPr lang="de-DE" sz="1000" dirty="0" err="1"/>
              <a:t>örr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0708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1400" b="1" dirty="0"/>
              <a:t>Integer </a:t>
            </a:r>
            <a:r>
              <a:rPr lang="de-DE" sz="1400" b="1" dirty="0" err="1"/>
              <a:t>Programming</a:t>
            </a:r>
            <a:r>
              <a:rPr lang="de-DE" sz="1400" b="1" dirty="0"/>
              <a:t> (IP) Pricing </a:t>
            </a:r>
            <a:r>
              <a:rPr lang="en-US" sz="1400" dirty="0"/>
              <a:t>(O’Neill et al., 2005)</a:t>
            </a:r>
            <a:endParaRPr lang="de-DE" sz="1400" dirty="0"/>
          </a:p>
          <a:p>
            <a:pPr marL="461963" lvl="1" indent="-285750">
              <a:buFont typeface="Arial" panose="020B0604020202020204" pitchFamily="34" charset="0"/>
              <a:buChar char="•"/>
            </a:pPr>
            <a:endParaRPr lang="de-DE" sz="1400" dirty="0"/>
          </a:p>
          <a:p>
            <a:pPr marL="461963" lvl="1" indent="-285750">
              <a:buFont typeface="Arial" panose="020B0604020202020204" pitchFamily="34" charset="0"/>
              <a:buChar char="•"/>
            </a:pPr>
            <a:r>
              <a:rPr lang="de-DE" sz="1400" dirty="0" err="1"/>
              <a:t>standard</a:t>
            </a:r>
            <a:r>
              <a:rPr lang="de-DE" sz="1400" dirty="0"/>
              <a:t> </a:t>
            </a:r>
            <a:r>
              <a:rPr lang="de-DE" sz="1400" dirty="0" err="1"/>
              <a:t>approach</a:t>
            </a:r>
            <a:r>
              <a:rPr lang="de-DE" sz="1400" dirty="0"/>
              <a:t> </a:t>
            </a:r>
            <a:r>
              <a:rPr lang="de-DE" sz="1400" dirty="0" err="1"/>
              <a:t>used</a:t>
            </a:r>
            <a:r>
              <a:rPr lang="de-DE" sz="1400" dirty="0"/>
              <a:t> in </a:t>
            </a:r>
            <a:r>
              <a:rPr lang="de-DE" sz="1400" dirty="0" err="1"/>
              <a:t>the</a:t>
            </a:r>
            <a:r>
              <a:rPr lang="de-DE" sz="1400" dirty="0"/>
              <a:t> US</a:t>
            </a:r>
          </a:p>
          <a:p>
            <a:pPr marL="461963" lvl="1" indent="-285750">
              <a:buFont typeface="Arial" panose="020B0604020202020204" pitchFamily="34" charset="0"/>
              <a:buChar char="•"/>
            </a:pPr>
            <a:endParaRPr lang="de-DE" sz="1400" dirty="0"/>
          </a:p>
          <a:p>
            <a:pPr marL="461963" lvl="1" indent="-285750">
              <a:buFont typeface="Arial" panose="020B0604020202020204" pitchFamily="34" charset="0"/>
              <a:buChar char="•"/>
            </a:pPr>
            <a:r>
              <a:rPr lang="de-DE" sz="1400" dirty="0"/>
              <a:t>“marginal pricing“ </a:t>
            </a:r>
            <a:r>
              <a:rPr lang="de-DE" sz="1400" dirty="0" err="1"/>
              <a:t>for</a:t>
            </a:r>
            <a:r>
              <a:rPr lang="de-DE" sz="1400" dirty="0"/>
              <a:t> non-</a:t>
            </a:r>
            <a:r>
              <a:rPr lang="de-DE" sz="1400" dirty="0" err="1"/>
              <a:t>convex</a:t>
            </a:r>
            <a:r>
              <a:rPr lang="de-DE" sz="1400" dirty="0"/>
              <a:t> </a:t>
            </a:r>
            <a:r>
              <a:rPr lang="de-DE" sz="1400" dirty="0" err="1"/>
              <a:t>markets</a:t>
            </a:r>
            <a:endParaRPr lang="de-DE" sz="1400" dirty="0"/>
          </a:p>
          <a:p>
            <a:pPr marL="461963" lvl="1" indent="-285750">
              <a:buFont typeface="Arial" panose="020B0604020202020204" pitchFamily="34" charset="0"/>
              <a:buChar char="•"/>
            </a:pPr>
            <a:endParaRPr lang="de-DE" sz="1400" dirty="0"/>
          </a:p>
          <a:p>
            <a:pPr marL="461963" lvl="1" indent="-285750">
              <a:buFont typeface="Arial" panose="020B0604020202020204" pitchFamily="34" charset="0"/>
              <a:buChar char="•"/>
            </a:pPr>
            <a:r>
              <a:rPr lang="de-DE" sz="1400" dirty="0" err="1"/>
              <a:t>good</a:t>
            </a:r>
            <a:r>
              <a:rPr lang="de-DE" sz="1400" dirty="0"/>
              <a:t> </a:t>
            </a:r>
            <a:r>
              <a:rPr lang="de-DE" sz="1400" dirty="0" err="1"/>
              <a:t>congestion</a:t>
            </a:r>
            <a:r>
              <a:rPr lang="de-DE" sz="1400" dirty="0"/>
              <a:t> </a:t>
            </a:r>
            <a:r>
              <a:rPr lang="de-DE" sz="1400" dirty="0" err="1"/>
              <a:t>signals</a:t>
            </a:r>
            <a:r>
              <a:rPr lang="de-DE" sz="1400" dirty="0"/>
              <a:t>, but large MWPs</a:t>
            </a:r>
          </a:p>
          <a:p>
            <a:endParaRPr lang="en-US" sz="1400" dirty="0"/>
          </a:p>
          <a:p>
            <a:pPr marL="519113" lvl="1" indent="-342900">
              <a:buFont typeface="+mj-lt"/>
              <a:buAutoNum type="arabicPeriod"/>
            </a:pPr>
            <a:endParaRPr lang="en-US" sz="1400" dirty="0"/>
          </a:p>
          <a:p>
            <a:endParaRPr lang="en-US" sz="1400" dirty="0"/>
          </a:p>
          <a:p>
            <a:endParaRPr lang="de-DE" sz="1400" dirty="0"/>
          </a:p>
          <a:p>
            <a:endParaRPr lang="ar-AE" sz="1400" dirty="0"/>
          </a:p>
          <a:p>
            <a:endParaRPr lang="ar-AE" sz="1400" dirty="0"/>
          </a:p>
          <a:p>
            <a:endParaRPr sz="1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z="3000" dirty="0"/>
              <a:t>How to compute prices?</a:t>
            </a:r>
            <a:endParaRPr lang="de-DE" sz="30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A8D5AD-C6DE-E3C3-FD62-CE2624F50E7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1162" y="6473313"/>
            <a:ext cx="7512802" cy="365125"/>
          </a:xfrm>
        </p:spPr>
        <p:txBody>
          <a:bodyPr/>
          <a:lstStyle/>
          <a:p>
            <a:r>
              <a:rPr lang="en-US" sz="1000" dirty="0"/>
              <a:t>Solving Large-Scale Electricity Market Pricing Problems in Polynomial Time | </a:t>
            </a:r>
            <a:r>
              <a:rPr lang="en-US" sz="1000" dirty="0" err="1"/>
              <a:t>Ahunbay</a:t>
            </a:r>
            <a:r>
              <a:rPr lang="en-US" sz="1000" dirty="0"/>
              <a:t>, </a:t>
            </a:r>
            <a:r>
              <a:rPr lang="en-US" sz="1000" dirty="0" err="1"/>
              <a:t>Bichler</a:t>
            </a:r>
            <a:r>
              <a:rPr lang="en-US" sz="1000" dirty="0"/>
              <a:t>, Dobos, </a:t>
            </a:r>
            <a:r>
              <a:rPr lang="en-US" sz="1000" dirty="0" err="1"/>
              <a:t>Kn</a:t>
            </a:r>
            <a:r>
              <a:rPr lang="de-DE" sz="1000" dirty="0" err="1"/>
              <a:t>örr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17178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5F939E-AF1A-C27E-2984-5396B2E68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dirty="0"/>
              <a:t>Electricity market model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Welfare maximization &amp; pricing problems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/>
                </a:solidFill>
              </a:rPr>
              <a:t>Markup mechanism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Evaluation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FontTx/>
              <a:buAutoNum type="arabicPeriod"/>
            </a:pPr>
            <a:r>
              <a:rPr lang="en-US" dirty="0"/>
              <a:t>Conclusions 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de-D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4EA9B5-547C-2365-920B-4E6113D74D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3E6C020-B9E9-2BC0-448C-CA52FA602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de-DE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2E54CE0F-6CCD-810B-CE95-9E71E32BC32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1162" y="6473313"/>
            <a:ext cx="7512802" cy="365125"/>
          </a:xfrm>
        </p:spPr>
        <p:txBody>
          <a:bodyPr/>
          <a:lstStyle/>
          <a:p>
            <a:r>
              <a:rPr lang="en-US" sz="1000" dirty="0"/>
              <a:t>Solving Large-Scale Electricity Market Pricing Problems in Polynomial Time | </a:t>
            </a:r>
            <a:r>
              <a:rPr lang="en-US" sz="1000" dirty="0" err="1"/>
              <a:t>Ahunbay</a:t>
            </a:r>
            <a:r>
              <a:rPr lang="en-US" sz="1000" dirty="0"/>
              <a:t>, </a:t>
            </a:r>
            <a:r>
              <a:rPr lang="en-US" sz="1000" dirty="0" err="1"/>
              <a:t>Bichler</a:t>
            </a:r>
            <a:r>
              <a:rPr lang="en-US" sz="1000" dirty="0"/>
              <a:t>, Dobos, </a:t>
            </a:r>
            <a:r>
              <a:rPr lang="en-US" sz="1000" dirty="0" err="1"/>
              <a:t>Kn</a:t>
            </a:r>
            <a:r>
              <a:rPr lang="de-DE" sz="1000" dirty="0" err="1"/>
              <a:t>örr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71291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e-DE" sz="1400" u="sng" dirty="0"/>
                  <a:t>Observation:</a:t>
                </a:r>
                <a:r>
                  <a:rPr lang="de-DE" sz="1400" dirty="0"/>
                  <a:t> </a:t>
                </a:r>
                <a:r>
                  <a:rPr lang="de-DE" sz="1400" dirty="0" err="1"/>
                  <a:t>If</a:t>
                </a:r>
                <a:r>
                  <a:rPr lang="de-DE" sz="1400" dirty="0"/>
                  <a:t> </a:t>
                </a:r>
                <a:r>
                  <a:rPr lang="de-DE" sz="1400" dirty="0" err="1"/>
                  <a:t>no</a:t>
                </a:r>
                <a:r>
                  <a:rPr lang="de-DE" sz="1400" dirty="0"/>
                  <a:t> </a:t>
                </a:r>
                <a:r>
                  <a:rPr lang="de-DE" sz="1400" dirty="0" err="1"/>
                  <a:t>Walrasian</a:t>
                </a:r>
                <a:r>
                  <a:rPr lang="de-DE" sz="1400" dirty="0"/>
                  <a:t> </a:t>
                </a:r>
                <a:r>
                  <a:rPr lang="de-DE" sz="1400" dirty="0" err="1"/>
                  <a:t>equilibrium</a:t>
                </a:r>
                <a:r>
                  <a:rPr lang="de-DE" sz="1400" dirty="0"/>
                  <a:t> </a:t>
                </a:r>
                <a:r>
                  <a:rPr lang="de-DE" sz="1400" dirty="0" err="1"/>
                  <a:t>exists</a:t>
                </a:r>
                <a:r>
                  <a:rPr lang="de-DE" sz="1400" dirty="0"/>
                  <a:t>, </a:t>
                </a:r>
                <a:r>
                  <a:rPr lang="de-DE" sz="1400" dirty="0" err="1"/>
                  <a:t>any</a:t>
                </a:r>
                <a:r>
                  <a:rPr lang="de-DE" sz="1400" dirty="0"/>
                  <a:t> (</a:t>
                </a:r>
                <a:r>
                  <a:rPr lang="de-DE" sz="1400" dirty="0" err="1"/>
                  <a:t>price</a:t>
                </a:r>
                <a:r>
                  <a:rPr lang="de-DE" sz="1400" dirty="0"/>
                  <a:t>, </a:t>
                </a:r>
                <a:r>
                  <a:rPr lang="de-DE" sz="1400" dirty="0" err="1"/>
                  <a:t>allocation</a:t>
                </a:r>
                <a:r>
                  <a:rPr lang="de-DE" sz="1400" dirty="0"/>
                  <a:t>) pair </a:t>
                </a:r>
                <a:r>
                  <a:rPr lang="de-DE" sz="1400" dirty="0" err="1"/>
                  <a:t>must</a:t>
                </a:r>
                <a:r>
                  <a:rPr lang="de-DE" sz="1400" dirty="0"/>
                  <a:t> feature </a:t>
                </a:r>
                <a:r>
                  <a:rPr lang="de-DE" sz="1400" dirty="0" err="1"/>
                  <a:t>either</a:t>
                </a:r>
                <a:r>
                  <a:rPr lang="de-DE" sz="1400" dirty="0"/>
                  <a:t>:</a:t>
                </a:r>
              </a:p>
              <a:p>
                <a:endParaRPr lang="de-DE" sz="1400" dirty="0"/>
              </a:p>
              <a:p>
                <a:pPr marL="461963" lvl="1" indent="-285750">
                  <a:buFont typeface="Arial" panose="020B0604020202020204" pitchFamily="34" charset="0"/>
                  <a:buChar char="•"/>
                </a:pPr>
                <a:r>
                  <a:rPr lang="de-DE" sz="1400" dirty="0"/>
                  <a:t>supply &gt; </a:t>
                </a:r>
                <a:r>
                  <a:rPr lang="de-DE" sz="1400" dirty="0" err="1"/>
                  <a:t>demand</a:t>
                </a:r>
                <a:r>
                  <a:rPr lang="de-DE" sz="1400" dirty="0"/>
                  <a:t> </a:t>
                </a:r>
                <a14:m>
                  <m:oMath xmlns:m="http://schemas.openxmlformats.org/officeDocument/2006/math">
                    <m:r>
                      <a:rPr lang="de-DE" sz="1400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de-DE" sz="1400" dirty="0"/>
                  <a:t> </a:t>
                </a:r>
                <a:r>
                  <a:rPr lang="de-DE" sz="1400" i="1" dirty="0" err="1"/>
                  <a:t>budget</a:t>
                </a:r>
                <a:r>
                  <a:rPr lang="de-DE" sz="1400" i="1" dirty="0"/>
                  <a:t> </a:t>
                </a:r>
                <a:r>
                  <a:rPr lang="de-DE" sz="1400" i="1" dirty="0" err="1"/>
                  <a:t>deficit</a:t>
                </a:r>
                <a:endParaRPr lang="de-DE" sz="1400" dirty="0">
                  <a:solidFill>
                    <a:srgbClr val="0070C0"/>
                  </a:solidFill>
                </a:endParaRPr>
              </a:p>
              <a:p>
                <a:pPr marL="461963" lvl="1" indent="-285750">
                  <a:buFont typeface="Arial" panose="020B0604020202020204" pitchFamily="34" charset="0"/>
                  <a:buChar char="•"/>
                </a:pPr>
                <a:endParaRPr lang="de-DE" sz="1400" dirty="0"/>
              </a:p>
              <a:p>
                <a:pPr marL="461963" lvl="1" indent="-285750">
                  <a:buFont typeface="Arial" panose="020B0604020202020204" pitchFamily="34" charset="0"/>
                  <a:buChar char="•"/>
                </a:pPr>
                <a:r>
                  <a:rPr lang="de-DE" sz="1400" dirty="0" err="1"/>
                  <a:t>demand</a:t>
                </a:r>
                <a:r>
                  <a:rPr lang="de-DE" sz="1400" dirty="0"/>
                  <a:t> &gt; </a:t>
                </a:r>
                <a:r>
                  <a:rPr lang="de-DE" sz="1400" dirty="0" err="1"/>
                  <a:t>supply</a:t>
                </a:r>
                <a:r>
                  <a:rPr lang="de-DE" sz="1400" dirty="0"/>
                  <a:t> </a:t>
                </a:r>
                <a14:m>
                  <m:oMath xmlns:m="http://schemas.openxmlformats.org/officeDocument/2006/math">
                    <m:r>
                      <a:rPr lang="de-DE" sz="1400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de-DE" sz="1400" dirty="0"/>
                  <a:t> </a:t>
                </a:r>
                <a:r>
                  <a:rPr lang="de-DE" sz="1400" i="1" dirty="0"/>
                  <a:t>rationing</a:t>
                </a:r>
                <a:endParaRPr lang="de-DE" sz="1400" dirty="0"/>
              </a:p>
              <a:p>
                <a:endParaRPr lang="de-DE" sz="1400" dirty="0"/>
              </a:p>
              <a:p>
                <a:endParaRPr lang="de-DE" sz="1400" dirty="0"/>
              </a:p>
              <a:p>
                <a:r>
                  <a:rPr lang="de-DE" sz="1400" dirty="0" err="1"/>
                  <a:t>Milgrom</a:t>
                </a:r>
                <a:r>
                  <a:rPr lang="de-DE" sz="1400" dirty="0"/>
                  <a:t> &amp; Watt, 2022 </a:t>
                </a:r>
                <a:r>
                  <a:rPr lang="de-DE" sz="1400" dirty="0" err="1"/>
                  <a:t>proposed</a:t>
                </a:r>
                <a:r>
                  <a:rPr lang="de-DE" sz="1400" dirty="0"/>
                  <a:t> </a:t>
                </a:r>
                <a:r>
                  <a:rPr lang="de-DE" sz="1400" dirty="0" err="1"/>
                  <a:t>the</a:t>
                </a:r>
                <a:r>
                  <a:rPr lang="de-DE" sz="1400" dirty="0"/>
                  <a:t> </a:t>
                </a:r>
                <a:r>
                  <a:rPr lang="de-DE" sz="1400" dirty="0" err="1">
                    <a:solidFill>
                      <a:srgbClr val="0070C0"/>
                    </a:solidFill>
                  </a:rPr>
                  <a:t>markup</a:t>
                </a:r>
                <a:r>
                  <a:rPr lang="de-DE" sz="1400" dirty="0">
                    <a:solidFill>
                      <a:srgbClr val="0070C0"/>
                    </a:solidFill>
                  </a:rPr>
                  <a:t> </a:t>
                </a:r>
                <a:r>
                  <a:rPr lang="de-DE" sz="1400" dirty="0" err="1">
                    <a:solidFill>
                      <a:srgbClr val="0070C0"/>
                    </a:solidFill>
                  </a:rPr>
                  <a:t>mechanism</a:t>
                </a:r>
                <a:r>
                  <a:rPr lang="de-DE" sz="1400" dirty="0">
                    <a:solidFill>
                      <a:srgbClr val="0070C0"/>
                    </a:solidFill>
                  </a:rPr>
                  <a:t> </a:t>
                </a:r>
                <a:r>
                  <a:rPr lang="de-DE" sz="1400" dirty="0" err="1"/>
                  <a:t>for</a:t>
                </a:r>
                <a:r>
                  <a:rPr lang="de-DE" sz="1400" dirty="0"/>
                  <a:t> </a:t>
                </a:r>
                <a:r>
                  <a:rPr lang="de-DE" sz="1400" dirty="0" err="1">
                    <a:solidFill>
                      <a:srgbClr val="0070C0"/>
                    </a:solidFill>
                  </a:rPr>
                  <a:t>two-sided</a:t>
                </a:r>
                <a:r>
                  <a:rPr lang="de-DE" sz="1400" dirty="0">
                    <a:solidFill>
                      <a:srgbClr val="0070C0"/>
                    </a:solidFill>
                  </a:rPr>
                  <a:t> </a:t>
                </a:r>
                <a:r>
                  <a:rPr lang="de-DE" sz="1400" u="sng" dirty="0" err="1">
                    <a:solidFill>
                      <a:srgbClr val="0070C0"/>
                    </a:solidFill>
                  </a:rPr>
                  <a:t>uncoupled</a:t>
                </a:r>
                <a:r>
                  <a:rPr lang="de-DE" sz="1400" dirty="0">
                    <a:solidFill>
                      <a:srgbClr val="0070C0"/>
                    </a:solidFill>
                  </a:rPr>
                  <a:t> </a:t>
                </a:r>
                <a:r>
                  <a:rPr lang="de-DE" sz="1400" dirty="0" err="1">
                    <a:solidFill>
                      <a:srgbClr val="0070C0"/>
                    </a:solidFill>
                  </a:rPr>
                  <a:t>markets</a:t>
                </a:r>
                <a:r>
                  <a:rPr lang="de-DE" sz="1400" dirty="0"/>
                  <a:t> – </a:t>
                </a:r>
                <a:r>
                  <a:rPr lang="de-DE" sz="1400" dirty="0" err="1"/>
                  <a:t>characteristics</a:t>
                </a:r>
                <a:r>
                  <a:rPr lang="de-DE" sz="1400" dirty="0"/>
                  <a:t>:</a:t>
                </a:r>
              </a:p>
              <a:p>
                <a:endParaRPr lang="de-DE" sz="1400" dirty="0"/>
              </a:p>
              <a:p>
                <a:pPr marL="461963" lvl="1" indent="-285750">
                  <a:buFont typeface="Arial" panose="020B0604020202020204" pitchFamily="34" charset="0"/>
                  <a:buChar char="•"/>
                </a:pPr>
                <a:r>
                  <a:rPr lang="de-DE" sz="1400" dirty="0" err="1"/>
                  <a:t>near</a:t>
                </a:r>
                <a:r>
                  <a:rPr lang="de-DE" sz="1400" dirty="0"/>
                  <a:t>-optimal </a:t>
                </a:r>
                <a:r>
                  <a:rPr lang="de-DE" sz="1400" dirty="0" err="1"/>
                  <a:t>allocation</a:t>
                </a:r>
                <a:endParaRPr lang="de-DE" sz="1400" dirty="0"/>
              </a:p>
              <a:p>
                <a:pPr marL="461963" lvl="1" indent="-285750">
                  <a:buFont typeface="Arial" panose="020B0604020202020204" pitchFamily="34" charset="0"/>
                  <a:buChar char="•"/>
                </a:pPr>
                <a:endParaRPr lang="de-DE" sz="1400" dirty="0"/>
              </a:p>
              <a:p>
                <a:pPr marL="461963" lvl="1" indent="-285750">
                  <a:buFont typeface="Arial" panose="020B0604020202020204" pitchFamily="34" charset="0"/>
                  <a:buChar char="•"/>
                </a:pPr>
                <a:r>
                  <a:rPr lang="de-DE" sz="1400" dirty="0" err="1"/>
                  <a:t>buyers</a:t>
                </a:r>
                <a:r>
                  <a:rPr lang="de-DE" sz="1400" dirty="0"/>
                  <a:t> </a:t>
                </a:r>
                <a:r>
                  <a:rPr lang="de-DE" sz="1400" dirty="0" err="1"/>
                  <a:t>pay</a:t>
                </a:r>
                <a:r>
                  <a:rPr lang="de-DE" sz="1400" dirty="0"/>
                  <a:t> </a:t>
                </a:r>
                <a:r>
                  <a:rPr lang="de-DE" sz="1400" dirty="0" err="1"/>
                  <a:t>higher</a:t>
                </a:r>
                <a:r>
                  <a:rPr lang="de-DE" sz="1400" dirty="0"/>
                  <a:t> </a:t>
                </a:r>
                <a:r>
                  <a:rPr lang="de-DE" sz="1400" dirty="0" err="1"/>
                  <a:t>prices</a:t>
                </a:r>
                <a:r>
                  <a:rPr lang="de-DE" sz="1400" dirty="0"/>
                  <a:t> </a:t>
                </a:r>
                <a:r>
                  <a:rPr lang="de-DE" sz="1400" dirty="0" err="1"/>
                  <a:t>to</a:t>
                </a:r>
                <a:r>
                  <a:rPr lang="de-DE" sz="1400" dirty="0"/>
                  <a:t> </a:t>
                </a:r>
                <a:r>
                  <a:rPr lang="de-DE" sz="1400" dirty="0" err="1"/>
                  <a:t>cover</a:t>
                </a:r>
                <a:r>
                  <a:rPr lang="de-DE" sz="1400" dirty="0"/>
                  <a:t> </a:t>
                </a:r>
                <a:r>
                  <a:rPr lang="de-DE" sz="1400" dirty="0" err="1"/>
                  <a:t>the</a:t>
                </a:r>
                <a:r>
                  <a:rPr lang="de-DE" sz="1400" dirty="0"/>
                  <a:t> </a:t>
                </a:r>
                <a:r>
                  <a:rPr lang="de-DE" sz="1400" dirty="0" err="1"/>
                  <a:t>excess</a:t>
                </a:r>
                <a:r>
                  <a:rPr lang="de-DE" sz="1400" dirty="0"/>
                  <a:t> </a:t>
                </a:r>
                <a:r>
                  <a:rPr lang="de-DE" sz="1400" dirty="0" err="1"/>
                  <a:t>supply</a:t>
                </a:r>
                <a:endParaRPr lang="de-DE" sz="1400" dirty="0"/>
              </a:p>
              <a:p>
                <a:pPr lvl="1" indent="0">
                  <a:buNone/>
                </a:pPr>
                <a:endParaRPr lang="de-DE" sz="1400" dirty="0"/>
              </a:p>
              <a:p>
                <a:pPr marL="461963" lvl="1" indent="-285750">
                  <a:buFont typeface="Arial" panose="020B0604020202020204" pitchFamily="34" charset="0"/>
                  <a:buChar char="•"/>
                </a:pPr>
                <a:r>
                  <a:rPr lang="de-DE" sz="1400" dirty="0" err="1"/>
                  <a:t>convex</a:t>
                </a:r>
                <a:r>
                  <a:rPr lang="de-DE" sz="1400" dirty="0"/>
                  <a:t> </a:t>
                </a:r>
                <a:r>
                  <a:rPr lang="de-DE" sz="1400" dirty="0" err="1"/>
                  <a:t>optimization</a:t>
                </a:r>
                <a:endParaRPr lang="de-DE" sz="1400" dirty="0"/>
              </a:p>
              <a:p>
                <a:pPr lvl="1" indent="0">
                  <a:buNone/>
                </a:pPr>
                <a:endParaRPr lang="de-DE" sz="1400" dirty="0"/>
              </a:p>
              <a:p>
                <a:pPr lvl="1" indent="0">
                  <a:buNone/>
                </a:pPr>
                <a:endParaRPr lang="de-DE" sz="1400" dirty="0"/>
              </a:p>
              <a:p>
                <a:endParaRPr lang="de-DE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e-DE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sz="1400" dirty="0"/>
              </a:p>
            </p:txBody>
          </p:sp>
        </mc:Choice>
        <mc:Fallback xmlns="">
          <p:sp>
            <p:nvSpPr>
              <p:cNvPr id="2" name="Inhaltsplatzhalt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9" t="-90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16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z="3000" dirty="0"/>
              <a:t>Markup mechanism</a:t>
            </a:r>
            <a:endParaRPr lang="de-DE" sz="30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A8D5AD-C6DE-E3C3-FD62-CE2624F50E7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1162" y="6473313"/>
            <a:ext cx="7512802" cy="365125"/>
          </a:xfrm>
        </p:spPr>
        <p:txBody>
          <a:bodyPr/>
          <a:lstStyle/>
          <a:p>
            <a:r>
              <a:rPr lang="en-US" sz="1000" dirty="0"/>
              <a:t>Solving Large-Scale Electricity Market Pricing Problems in Polynomial Time | </a:t>
            </a:r>
            <a:r>
              <a:rPr lang="en-US" sz="1000" dirty="0" err="1"/>
              <a:t>Ahunbay</a:t>
            </a:r>
            <a:r>
              <a:rPr lang="en-US" sz="1000" dirty="0"/>
              <a:t>, </a:t>
            </a:r>
            <a:r>
              <a:rPr lang="en-US" sz="1000" dirty="0" err="1"/>
              <a:t>Bichler</a:t>
            </a:r>
            <a:r>
              <a:rPr lang="en-US" sz="1000" dirty="0"/>
              <a:t>, Dobos, </a:t>
            </a:r>
            <a:r>
              <a:rPr lang="en-US" sz="1000" dirty="0" err="1"/>
              <a:t>Kn</a:t>
            </a:r>
            <a:r>
              <a:rPr lang="de-DE" sz="1000" dirty="0" err="1"/>
              <a:t>örr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1023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1400" i="1" u="sng" dirty="0"/>
                  <a:t>Phase 1:</a:t>
                </a:r>
                <a:r>
                  <a:rPr lang="en-US" sz="1400" i="1" dirty="0"/>
                  <a:t> Valuations scaling &amp; convexifying WMP</a:t>
                </a:r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lim>
                      </m:limLow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en-US" sz="1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.     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                        0≤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≤1  ∀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den>
                          </m:f>
                        </m:e>
                      </m:nary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i="1" u="sng" dirty="0"/>
                  <a:t>Phase 2:</a:t>
                </a:r>
                <a:r>
                  <a:rPr lang="en-US" sz="1400" i="1" dirty="0"/>
                  <a:t> Rounding &amp; Residual Clearing</a:t>
                </a:r>
              </a:p>
              <a:p>
                <a:endParaRPr lang="en-US" sz="1400" i="1" dirty="0"/>
              </a:p>
              <a:p>
                <a:pPr marL="461963" lvl="1" indent="-285750">
                  <a:buFont typeface="Arial" panose="020B0604020202020204" pitchFamily="34" charset="0"/>
                  <a:buChar char="•"/>
                </a:pPr>
                <a:r>
                  <a:rPr lang="en-US" sz="1400" i="1" dirty="0"/>
                  <a:t>Option 1: Rounding with a threshold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∈(0, 1]</m:t>
                    </m:r>
                  </m:oMath>
                </a14:m>
                <a:endParaRPr lang="en-US" sz="1400" i="1" dirty="0"/>
              </a:p>
              <a:p>
                <a:endParaRPr lang="en-US" sz="1400" i="1" dirty="0"/>
              </a:p>
              <a:p>
                <a:pPr marL="461963" lvl="1" indent="-285750">
                  <a:buFont typeface="Arial" panose="020B0604020202020204" pitchFamily="34" charset="0"/>
                  <a:buChar char="•"/>
                </a:pPr>
                <a:r>
                  <a:rPr lang="en-US" sz="1400" i="1" dirty="0"/>
                  <a:t>Option 2: Rounding by solving a small MILP </a:t>
                </a:r>
              </a:p>
              <a:p>
                <a:endParaRPr lang="en-US" sz="1400" dirty="0"/>
              </a:p>
              <a:p>
                <a:endParaRPr sz="1400" dirty="0"/>
              </a:p>
            </p:txBody>
          </p:sp>
        </mc:Choice>
        <mc:Fallback xmlns="">
          <p:sp>
            <p:nvSpPr>
              <p:cNvPr id="2" name="Inhaltsplatzhalt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90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17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z="3000" dirty="0"/>
              <a:t>Markup mechanism for </a:t>
            </a:r>
            <a:r>
              <a:rPr lang="en-US" dirty="0"/>
              <a:t>electricity</a:t>
            </a:r>
            <a:r>
              <a:rPr lang="en-US" sz="3000" dirty="0"/>
              <a:t> markets</a:t>
            </a:r>
            <a:endParaRPr lang="de-DE" sz="30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006CDC-B13D-0A46-64B9-39984CF31E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1162" y="6473313"/>
            <a:ext cx="7512802" cy="365125"/>
          </a:xfrm>
        </p:spPr>
        <p:txBody>
          <a:bodyPr/>
          <a:lstStyle/>
          <a:p>
            <a:r>
              <a:rPr lang="en-US" sz="1000" dirty="0"/>
              <a:t>Solving Large-Scale Electricity Market Pricing Problems in Polynomial Time | </a:t>
            </a:r>
            <a:r>
              <a:rPr lang="en-US" sz="1000" dirty="0" err="1"/>
              <a:t>Ahunbay</a:t>
            </a:r>
            <a:r>
              <a:rPr lang="en-US" sz="1000" dirty="0"/>
              <a:t>, </a:t>
            </a:r>
            <a:r>
              <a:rPr lang="en-US" sz="1000" dirty="0" err="1"/>
              <a:t>Bichler</a:t>
            </a:r>
            <a:r>
              <a:rPr lang="en-US" sz="1000" dirty="0"/>
              <a:t>, Dobos, </a:t>
            </a:r>
            <a:r>
              <a:rPr lang="en-US" sz="1000" dirty="0" err="1"/>
              <a:t>Kn</a:t>
            </a:r>
            <a:r>
              <a:rPr lang="de-DE" sz="1000" dirty="0" err="1"/>
              <a:t>örr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13639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1400" i="1" u="sng" dirty="0"/>
                  <a:t>Phase 1:</a:t>
                </a:r>
                <a:r>
                  <a:rPr lang="en-US" sz="1400" i="1" dirty="0"/>
                  <a:t> Valuations scaling &amp; convexifying WMP</a:t>
                </a:r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lim>
                      </m:limLow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en-US" sz="1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.     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                        0≤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≤1  ∀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400" dirty="0"/>
                  <a:t> o</a:t>
                </a:r>
                <a:r>
                  <a:rPr lang="en-US" sz="1400" b="0" dirty="0"/>
                  <a:t>btain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 dirty="0"/>
                  <a:t> </a:t>
                </a:r>
              </a:p>
              <a:p>
                <a:endParaRPr lang="en-US" sz="1400" i="1" u="sng" dirty="0"/>
              </a:p>
              <a:p>
                <a:r>
                  <a:rPr lang="en-US" sz="1400" i="1" u="sng" dirty="0"/>
                  <a:t>Phase 2:</a:t>
                </a:r>
                <a:r>
                  <a:rPr lang="en-US" sz="1400" i="1" dirty="0"/>
                  <a:t> Rounding &amp; Residual Clearing – </a:t>
                </a:r>
                <a:r>
                  <a:rPr lang="en-US" sz="1400" i="1" dirty="0">
                    <a:solidFill>
                      <a:srgbClr val="0070C0"/>
                    </a:solidFill>
                  </a:rPr>
                  <a:t>Option 1: Rounding with a threshold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1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∈(0, 1]</m:t>
                    </m:r>
                  </m:oMath>
                </a14:m>
                <a:endParaRPr lang="en-US" sz="1400" i="1" dirty="0">
                  <a:solidFill>
                    <a:srgbClr val="0070C0"/>
                  </a:solidFill>
                </a:endParaRPr>
              </a:p>
              <a:p>
                <a:endParaRPr lang="en-US" sz="1400" i="1" dirty="0"/>
              </a:p>
              <a:p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lim>
                      </m:limLow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1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.     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                        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  ∀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sz="1400" dirty="0"/>
              </a:p>
              <a:p>
                <a:endParaRPr sz="1400" dirty="0"/>
              </a:p>
            </p:txBody>
          </p:sp>
        </mc:Choice>
        <mc:Fallback xmlns="">
          <p:sp>
            <p:nvSpPr>
              <p:cNvPr id="2" name="Inhaltsplatzhalt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9" t="-90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18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z="3000" dirty="0"/>
              <a:t>Markup mechanism for </a:t>
            </a:r>
            <a:r>
              <a:rPr lang="en-US" dirty="0"/>
              <a:t>electricity</a:t>
            </a:r>
            <a:r>
              <a:rPr lang="en-US" sz="3000" dirty="0"/>
              <a:t> markets</a:t>
            </a:r>
            <a:endParaRPr lang="de-DE" sz="30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110F95-64E4-D6CB-CB34-4DFC138BE69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1162" y="6473313"/>
            <a:ext cx="7512802" cy="365125"/>
          </a:xfrm>
        </p:spPr>
        <p:txBody>
          <a:bodyPr/>
          <a:lstStyle/>
          <a:p>
            <a:r>
              <a:rPr lang="en-US" sz="1000" dirty="0"/>
              <a:t>Solving Large-Scale Electricity Market Pricing Problems in Polynomial Time | </a:t>
            </a:r>
            <a:r>
              <a:rPr lang="en-US" sz="1000" dirty="0" err="1"/>
              <a:t>Ahunbay</a:t>
            </a:r>
            <a:r>
              <a:rPr lang="en-US" sz="1000" dirty="0"/>
              <a:t>, </a:t>
            </a:r>
            <a:r>
              <a:rPr lang="en-US" sz="1000" dirty="0" err="1"/>
              <a:t>Bichler</a:t>
            </a:r>
            <a:r>
              <a:rPr lang="en-US" sz="1000" dirty="0"/>
              <a:t>, Dobos, </a:t>
            </a:r>
            <a:r>
              <a:rPr lang="en-US" sz="1000" dirty="0" err="1"/>
              <a:t>Kn</a:t>
            </a:r>
            <a:r>
              <a:rPr lang="de-DE" sz="1000" dirty="0" err="1"/>
              <a:t>örr</a:t>
            </a:r>
            <a:endParaRPr lang="en-US" sz="10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58E793A-03B7-A4C1-E1DC-2AE69602E481}"/>
              </a:ext>
            </a:extLst>
          </p:cNvPr>
          <p:cNvCxnSpPr>
            <a:cxnSpLocks/>
          </p:cNvCxnSpPr>
          <p:nvPr/>
        </p:nvCxnSpPr>
        <p:spPr>
          <a:xfrm flipH="1" flipV="1">
            <a:off x="4991386" y="5115140"/>
            <a:ext cx="302509" cy="646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8996A03-6DB0-9EC5-C051-8893097D6B31}"/>
                  </a:ext>
                </a:extLst>
              </p:cNvPr>
              <p:cNvSpPr txBox="1"/>
              <p:nvPr/>
            </p:nvSpPr>
            <p:spPr>
              <a:xfrm>
                <a:off x="4482623" y="5785842"/>
                <a:ext cx="2281073" cy="245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=1 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else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DE" sz="1400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8996A03-6DB0-9EC5-C051-8893097D6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2623" y="5785842"/>
                <a:ext cx="2281073" cy="245580"/>
              </a:xfrm>
              <a:prstGeom prst="rect">
                <a:avLst/>
              </a:prstGeom>
              <a:blipFill>
                <a:blip r:embed="rId3"/>
                <a:stretch>
                  <a:fillRect l="-267" r="-800" b="-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19861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1400" i="1" u="sng" dirty="0"/>
                  <a:t>Phase 1:</a:t>
                </a:r>
                <a:r>
                  <a:rPr lang="en-US" sz="1400" i="1" dirty="0"/>
                  <a:t> Valuations scaling &amp; convexifying WMP</a:t>
                </a:r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lim>
                      </m:limLow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en-US" sz="1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.     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                        0≤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≤1  ∀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400" dirty="0"/>
                  <a:t> o</a:t>
                </a:r>
                <a:r>
                  <a:rPr lang="en-US" sz="1400" b="0" dirty="0"/>
                  <a:t>btain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 dirty="0"/>
                  <a:t> </a:t>
                </a:r>
              </a:p>
              <a:p>
                <a:endParaRPr lang="en-US" sz="1400" dirty="0"/>
              </a:p>
              <a:p>
                <a:r>
                  <a:rPr lang="en-US" sz="1400" i="1" u="sng" dirty="0"/>
                  <a:t>Phase 2:</a:t>
                </a:r>
                <a:r>
                  <a:rPr lang="en-US" sz="1400" i="1" dirty="0"/>
                  <a:t> Rounding &amp; Residual Clearing – </a:t>
                </a:r>
                <a:r>
                  <a:rPr lang="en-US" sz="1400" i="1" dirty="0">
                    <a:solidFill>
                      <a:srgbClr val="0070C0"/>
                    </a:solidFill>
                  </a:rPr>
                  <a:t>Option 2: Rounding by solving a small MILP </a:t>
                </a:r>
              </a:p>
              <a:p>
                <a:endParaRPr lang="en-US" sz="1400" i="1" dirty="0"/>
              </a:p>
              <a:p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lim>
                      </m:limLow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1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.     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                        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  ∀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</m:oMath>
                  </m:oMathPara>
                </a14:m>
                <a:endParaRPr lang="en-US" sz="1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0, 1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 ∀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\</m:t>
                      </m:r>
                      <m:r>
                        <m:rPr>
                          <m:lit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</m:oMath>
                  </m:oMathPara>
                </a14:m>
                <a:endParaRPr lang="en-US" sz="1400" dirty="0"/>
              </a:p>
              <a:p>
                <a:endParaRPr sz="1400" dirty="0"/>
              </a:p>
            </p:txBody>
          </p:sp>
        </mc:Choice>
        <mc:Fallback xmlns="">
          <p:sp>
            <p:nvSpPr>
              <p:cNvPr id="2" name="Inhaltsplatzhalt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9" t="-90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19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z="3000" dirty="0"/>
              <a:t>Markup mechanism for </a:t>
            </a:r>
            <a:r>
              <a:rPr lang="en-US" dirty="0"/>
              <a:t>electricity</a:t>
            </a:r>
            <a:r>
              <a:rPr lang="en-US" sz="3000" dirty="0"/>
              <a:t> markets</a:t>
            </a:r>
            <a:endParaRPr lang="de-DE" sz="30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5DE7F0-353A-0C5D-2799-78A0D83C8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1162" y="6473313"/>
            <a:ext cx="7512802" cy="365125"/>
          </a:xfrm>
        </p:spPr>
        <p:txBody>
          <a:bodyPr/>
          <a:lstStyle/>
          <a:p>
            <a:r>
              <a:rPr lang="en-US" sz="1000" dirty="0"/>
              <a:t>Solving Large-Scale Electricity Market Pricing Problems in Polynomial Time | </a:t>
            </a:r>
            <a:r>
              <a:rPr lang="en-US" sz="1000" dirty="0" err="1"/>
              <a:t>Ahunbay</a:t>
            </a:r>
            <a:r>
              <a:rPr lang="en-US" sz="1000" dirty="0"/>
              <a:t>, </a:t>
            </a:r>
            <a:r>
              <a:rPr lang="en-US" sz="1000" dirty="0" err="1"/>
              <a:t>Bichler</a:t>
            </a:r>
            <a:r>
              <a:rPr lang="en-US" sz="1000" dirty="0"/>
              <a:t>, Dobos, </a:t>
            </a:r>
            <a:r>
              <a:rPr lang="en-US" sz="1000" dirty="0" err="1"/>
              <a:t>Kn</a:t>
            </a:r>
            <a:r>
              <a:rPr lang="de-DE" sz="1000" dirty="0" err="1"/>
              <a:t>örr</a:t>
            </a:r>
            <a:endParaRPr lang="en-US" sz="10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3DBC95E-0669-AE67-D0CC-F8AA8A7C2CEC}"/>
              </a:ext>
            </a:extLst>
          </p:cNvPr>
          <p:cNvCxnSpPr>
            <a:cxnSpLocks/>
          </p:cNvCxnSpPr>
          <p:nvPr/>
        </p:nvCxnSpPr>
        <p:spPr>
          <a:xfrm flipH="1">
            <a:off x="5685781" y="4440778"/>
            <a:ext cx="543139" cy="404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9B799AA-C6E4-33BA-9130-2C3AC009DBF4}"/>
                  </a:ext>
                </a:extLst>
              </p:cNvPr>
              <p:cNvSpPr txBox="1"/>
              <p:nvPr/>
            </p:nvSpPr>
            <p:spPr>
              <a:xfrm>
                <a:off x="6311422" y="4215716"/>
                <a:ext cx="1890069" cy="2250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|</m:t>
                    </m:r>
                    <m:sSubSup>
                      <m:sSub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∈{0, 1}</m:t>
                    </m:r>
                  </m:oMath>
                </a14:m>
                <a:r>
                  <a:rPr lang="de-DE" sz="1400" dirty="0">
                    <a:latin typeface="+mn-lt"/>
                  </a:rPr>
                  <a:t>}</a:t>
                </a:r>
                <a:endParaRPr lang="de-DE" sz="1400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9B799AA-C6E4-33BA-9130-2C3AC009D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1422" y="4215716"/>
                <a:ext cx="1890069" cy="225062"/>
              </a:xfrm>
              <a:prstGeom prst="rect">
                <a:avLst/>
              </a:prstGeom>
              <a:blipFill>
                <a:blip r:embed="rId3"/>
                <a:stretch>
                  <a:fillRect l="-3226" t="-22222" r="-4839" b="-5277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39052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Prices are obtained from the dual problem of the convexified WMP.</a:t>
                </a:r>
              </a:p>
              <a:p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ar-AE" sz="1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ar-AE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lim>
                      </m:limLow>
                      <m:r>
                        <a:rPr lang="ar-AE" sz="14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ar-AE" sz="14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ar-AE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ar-AE" sz="1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ar-AE" sz="1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ar-AE" sz="1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.     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l-GR" sz="1400" b="0" i="0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l-G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400" b="0" i="1" smtClean="0">
                          <a:latin typeface="Cambria Math" panose="02040503050406030204" pitchFamily="18" charset="0"/>
                        </a:rPr>
                        <m:t>                         0≤</m:t>
                      </m:r>
                      <m:sSub>
                        <m:sSubPr>
                          <m:ctrlPr>
                            <a:rPr lang="ar-AE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ar-AE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ar-AE" sz="1400" b="0" i="1" smtClean="0">
                          <a:latin typeface="Cambria Math" panose="02040503050406030204" pitchFamily="18" charset="0"/>
                        </a:rPr>
                        <m:t>≤1  ∀</m:t>
                      </m:r>
                      <m:r>
                        <a:rPr lang="ar-AE" sz="1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ar-AE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ar-AE" sz="1400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ar-AE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ar-AE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Sellers‘ prices are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400" dirty="0"/>
                  <a:t> and buyers’ prices are 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(1+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4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err="1"/>
                  <a:t>Role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of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400" dirty="0"/>
                  <a:t>: </a:t>
                </a:r>
                <a:r>
                  <a:rPr lang="en-US" sz="1400" dirty="0" err="1"/>
                  <a:t>ensure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that</a:t>
                </a:r>
                <a:r>
                  <a:rPr lang="en-US" sz="1400" dirty="0"/>
                  <a:t> </a:t>
                </a:r>
                <a:r>
                  <a:rPr lang="en-US" sz="1400" dirty="0" err="1"/>
                  <a:t>the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market</a:t>
                </a:r>
                <a:r>
                  <a:rPr lang="en-US" sz="1400" dirty="0"/>
                  <a:t> </a:t>
                </a:r>
                <a:r>
                  <a:rPr lang="en-US" sz="1400" dirty="0" err="1"/>
                  <a:t>has</a:t>
                </a:r>
                <a:r>
                  <a:rPr lang="en-US" sz="1400" dirty="0"/>
                  <a:t> </a:t>
                </a:r>
                <a:r>
                  <a:rPr lang="en-US" sz="1400" dirty="0" err="1"/>
                  <a:t>no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budget</a:t>
                </a:r>
                <a:r>
                  <a:rPr lang="en-US" sz="1400" dirty="0"/>
                  <a:t> </a:t>
                </a:r>
                <a:r>
                  <a:rPr lang="en-US" sz="1400" dirty="0" err="1"/>
                  <a:t>deficit</a:t>
                </a:r>
                <a:r>
                  <a:rPr lang="en-US" sz="1400" dirty="0"/>
                  <a:t>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ar-AE" sz="1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ar-AE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ar-AE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ar-AE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1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ar-AE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400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ar-AE" sz="14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  <m:r>
                                <a:rPr lang="ar-AE" sz="1400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ar-AE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ar-AE" sz="1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ar-AE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1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ar-AE" sz="14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d>
                      <m:r>
                        <a:rPr lang="ar-AE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1400" b="0" i="1" smtClean="0">
                          <a:latin typeface="Cambria Math" panose="02040503050406030204" pitchFamily="18" charset="0"/>
                        </a:rPr>
                        <m:t>𝑀𝑊𝑃𝑠</m:t>
                      </m:r>
                      <m:r>
                        <a:rPr lang="ar-AE" sz="14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ar-AE" sz="1400" dirty="0"/>
              </a:p>
              <a:p>
                <a:endParaRPr lang="ar-AE" sz="1400" dirty="0"/>
              </a:p>
              <a:p>
                <a:r>
                  <a:rPr lang="en-US" sz="1400" dirty="0"/>
                  <a:t>          </a:t>
                </a:r>
                <a14:m>
                  <m:oMath xmlns:m="http://schemas.openxmlformats.org/officeDocument/2006/math">
                    <m:r>
                      <a:rPr lang="ar-AE" sz="1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400" dirty="0"/>
                  <a:t> No guarantee that such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400" dirty="0"/>
                  <a:t> exists!</a:t>
                </a:r>
                <a:endParaRPr sz="1400" dirty="0"/>
              </a:p>
            </p:txBody>
          </p:sp>
        </mc:Choice>
        <mc:Fallback xmlns="">
          <p:sp>
            <p:nvSpPr>
              <p:cNvPr id="2" name="Inhaltsplatzhalt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6" t="-90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20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z="3000" dirty="0"/>
              <a:t>What about the prices?</a:t>
            </a:r>
            <a:endParaRPr lang="de-DE" sz="30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5DE7F0-353A-0C5D-2799-78A0D83C8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1162" y="6473313"/>
            <a:ext cx="7512802" cy="365125"/>
          </a:xfrm>
        </p:spPr>
        <p:txBody>
          <a:bodyPr/>
          <a:lstStyle/>
          <a:p>
            <a:r>
              <a:rPr lang="en-US" sz="1000" dirty="0"/>
              <a:t>Solving Large-Scale Electricity Market Pricing Problems in Polynomial Time | </a:t>
            </a:r>
            <a:r>
              <a:rPr lang="en-US" sz="1000" dirty="0" err="1"/>
              <a:t>Ahunbay</a:t>
            </a:r>
            <a:r>
              <a:rPr lang="en-US" sz="1000" dirty="0"/>
              <a:t>, </a:t>
            </a:r>
            <a:r>
              <a:rPr lang="en-US" sz="1000" dirty="0" err="1"/>
              <a:t>Bichler</a:t>
            </a:r>
            <a:r>
              <a:rPr lang="en-US" sz="1000" dirty="0"/>
              <a:t>, Dobos, </a:t>
            </a:r>
            <a:r>
              <a:rPr lang="en-US" sz="1000" dirty="0" err="1"/>
              <a:t>Kn</a:t>
            </a:r>
            <a:r>
              <a:rPr lang="de-DE" sz="1000" dirty="0" err="1"/>
              <a:t>örr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73149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5F939E-AF1A-C27E-2984-5396B2E68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dirty="0"/>
              <a:t>Electricity market model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Welfare maximization &amp; pricing problems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Markup mechanism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/>
                </a:solidFill>
              </a:rPr>
              <a:t>Evaluation</a:t>
            </a:r>
          </a:p>
          <a:p>
            <a:pPr marL="342900" indent="-342900">
              <a:buAutoNum type="arabicPeriod"/>
            </a:pPr>
            <a:endParaRPr lang="de-DE" dirty="0"/>
          </a:p>
          <a:p>
            <a:pPr marL="342900" indent="-342900">
              <a:buAutoNum type="arabicPeriod"/>
            </a:pPr>
            <a:r>
              <a:rPr lang="de-DE" dirty="0" err="1"/>
              <a:t>Conclusions</a:t>
            </a:r>
            <a:endParaRPr lang="de-D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4EA9B5-547C-2365-920B-4E6113D74D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21</a:t>
            </a:fld>
            <a:endParaRPr lang="de-DE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3E6C020-B9E9-2BC0-448C-CA52FA602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de-DE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2E54CE0F-6CCD-810B-CE95-9E71E32BC32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1162" y="6473313"/>
            <a:ext cx="7512802" cy="365125"/>
          </a:xfrm>
        </p:spPr>
        <p:txBody>
          <a:bodyPr/>
          <a:lstStyle/>
          <a:p>
            <a:r>
              <a:rPr lang="en-US" sz="1000" dirty="0"/>
              <a:t>Solving Large-Scale Electricity Market Pricing Problems in Polynomial Time | </a:t>
            </a:r>
            <a:r>
              <a:rPr lang="en-US" sz="1000" dirty="0" err="1"/>
              <a:t>Ahunbay</a:t>
            </a:r>
            <a:r>
              <a:rPr lang="en-US" sz="1000" dirty="0"/>
              <a:t>, </a:t>
            </a:r>
            <a:r>
              <a:rPr lang="en-US" sz="1000" dirty="0" err="1"/>
              <a:t>Bichler</a:t>
            </a:r>
            <a:r>
              <a:rPr lang="en-US" sz="1000" dirty="0"/>
              <a:t>, Dobos, </a:t>
            </a:r>
            <a:r>
              <a:rPr lang="en-US" sz="1000" dirty="0" err="1"/>
              <a:t>Kn</a:t>
            </a:r>
            <a:r>
              <a:rPr lang="de-DE" sz="1000" dirty="0" err="1"/>
              <a:t>örr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943506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CDD8CA5-0C67-BD75-06BE-A960D5E348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1865631"/>
              </p:ext>
            </p:extLst>
          </p:nvPr>
        </p:nvGraphicFramePr>
        <p:xfrm>
          <a:off x="1277698" y="2659370"/>
          <a:ext cx="6591781" cy="2346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1683">
                  <a:extLst>
                    <a:ext uri="{9D8B030D-6E8A-4147-A177-3AD203B41FA5}">
                      <a16:colId xmlns:a16="http://schemas.microsoft.com/office/drawing/2014/main" val="4000999073"/>
                    </a:ext>
                  </a:extLst>
                </a:gridCol>
                <a:gridCol w="941683">
                  <a:extLst>
                    <a:ext uri="{9D8B030D-6E8A-4147-A177-3AD203B41FA5}">
                      <a16:colId xmlns:a16="http://schemas.microsoft.com/office/drawing/2014/main" val="625339588"/>
                    </a:ext>
                  </a:extLst>
                </a:gridCol>
                <a:gridCol w="941683">
                  <a:extLst>
                    <a:ext uri="{9D8B030D-6E8A-4147-A177-3AD203B41FA5}">
                      <a16:colId xmlns:a16="http://schemas.microsoft.com/office/drawing/2014/main" val="4127088408"/>
                    </a:ext>
                  </a:extLst>
                </a:gridCol>
                <a:gridCol w="941683">
                  <a:extLst>
                    <a:ext uri="{9D8B030D-6E8A-4147-A177-3AD203B41FA5}">
                      <a16:colId xmlns:a16="http://schemas.microsoft.com/office/drawing/2014/main" val="3574810238"/>
                    </a:ext>
                  </a:extLst>
                </a:gridCol>
                <a:gridCol w="941683">
                  <a:extLst>
                    <a:ext uri="{9D8B030D-6E8A-4147-A177-3AD203B41FA5}">
                      <a16:colId xmlns:a16="http://schemas.microsoft.com/office/drawing/2014/main" val="3775343360"/>
                    </a:ext>
                  </a:extLst>
                </a:gridCol>
                <a:gridCol w="941683">
                  <a:extLst>
                    <a:ext uri="{9D8B030D-6E8A-4147-A177-3AD203B41FA5}">
                      <a16:colId xmlns:a16="http://schemas.microsoft.com/office/drawing/2014/main" val="3492237891"/>
                    </a:ext>
                  </a:extLst>
                </a:gridCol>
                <a:gridCol w="941683">
                  <a:extLst>
                    <a:ext uri="{9D8B030D-6E8A-4147-A177-3AD203B41FA5}">
                      <a16:colId xmlns:a16="http://schemas.microsoft.com/office/drawing/2014/main" val="2006436116"/>
                    </a:ext>
                  </a:extLst>
                </a:gridCol>
              </a:tblGrid>
              <a:tr h="44004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Scenario</a:t>
                      </a:r>
                      <a:endParaRPr lang="de-DE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Nodes</a:t>
                      </a:r>
                      <a:endParaRPr lang="de-DE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Lines</a:t>
                      </a:r>
                      <a:endParaRPr lang="de-DE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Sellers</a:t>
                      </a:r>
                      <a:endParaRPr lang="de-DE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Buyers</a:t>
                      </a:r>
                      <a:endParaRPr lang="de-DE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Demand (GWh)</a:t>
                      </a:r>
                      <a:endParaRPr lang="de-DE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Supply (GWh)</a:t>
                      </a:r>
                      <a:endParaRPr lang="de-DE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494469"/>
                  </a:ext>
                </a:extLst>
              </a:tr>
              <a:tr h="262756"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1.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617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841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94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404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506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830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753521"/>
                  </a:ext>
                </a:extLst>
              </a:tr>
              <a:tr h="262756"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2.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2,020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2,709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194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1,392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622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1,041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777192"/>
                  </a:ext>
                </a:extLst>
              </a:tr>
              <a:tr h="262756"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3.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8,718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26,084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321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5,819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988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1,088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815653"/>
                  </a:ext>
                </a:extLst>
              </a:tr>
              <a:tr h="262756"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4.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10,480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16,253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750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6,871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2,033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2,289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965695"/>
                  </a:ext>
                </a:extLst>
              </a:tr>
              <a:tr h="262756"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5.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12,209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30,500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2,009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6,987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2,391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3,328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530030"/>
                  </a:ext>
                </a:extLst>
              </a:tr>
              <a:tr h="262756"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6.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18,889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57,630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898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12,273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2,686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2,916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380588"/>
                  </a:ext>
                </a:extLst>
              </a:tr>
            </a:tbl>
          </a:graphicData>
        </a:graphic>
      </p:graphicFrame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22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z="3000" dirty="0"/>
              <a:t>Data sets</a:t>
            </a:r>
            <a:endParaRPr lang="de-DE" sz="3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288CE7-CBBE-6C32-CA3E-1EFB8BB020D3}"/>
              </a:ext>
            </a:extLst>
          </p:cNvPr>
          <p:cNvSpPr txBox="1"/>
          <p:nvPr/>
        </p:nvSpPr>
        <p:spPr>
          <a:xfrm>
            <a:off x="319090" y="1806974"/>
            <a:ext cx="8508998" cy="2250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400" dirty="0">
                <a:latin typeface="+mn-lt"/>
              </a:rPr>
              <a:t>6 scenarios from the ARPA-E Challenge 2 extended to 24 hours </a:t>
            </a:r>
            <a:endParaRPr lang="de-DE" sz="1400" dirty="0" err="1">
              <a:latin typeface="+mn-lt"/>
            </a:endParaRPr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295AE9A6-2C24-EBB6-2FE3-4A327DB6C3F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1162" y="6473313"/>
            <a:ext cx="7512802" cy="365125"/>
          </a:xfrm>
        </p:spPr>
        <p:txBody>
          <a:bodyPr/>
          <a:lstStyle/>
          <a:p>
            <a:r>
              <a:rPr lang="en-US" sz="1000" dirty="0"/>
              <a:t>Solving Large-Scale Electricity Market Pricing Problems in Polynomial Time | </a:t>
            </a:r>
            <a:r>
              <a:rPr lang="en-US" sz="1000" dirty="0" err="1"/>
              <a:t>Ahunbay</a:t>
            </a:r>
            <a:r>
              <a:rPr lang="en-US" sz="1000" dirty="0"/>
              <a:t>, </a:t>
            </a:r>
            <a:r>
              <a:rPr lang="en-US" sz="1000" dirty="0" err="1"/>
              <a:t>Bichler</a:t>
            </a:r>
            <a:r>
              <a:rPr lang="en-US" sz="1000" dirty="0"/>
              <a:t>, Dobos, </a:t>
            </a:r>
            <a:r>
              <a:rPr lang="en-US" sz="1000" dirty="0" err="1"/>
              <a:t>Kn</a:t>
            </a:r>
            <a:r>
              <a:rPr lang="de-DE" sz="1000" dirty="0" err="1"/>
              <a:t>örr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157241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CDD8CA5-0C67-BD75-06BE-A960D5E348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3963963"/>
              </p:ext>
            </p:extLst>
          </p:nvPr>
        </p:nvGraphicFramePr>
        <p:xfrm>
          <a:off x="1277698" y="2659370"/>
          <a:ext cx="6591781" cy="2956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1683">
                  <a:extLst>
                    <a:ext uri="{9D8B030D-6E8A-4147-A177-3AD203B41FA5}">
                      <a16:colId xmlns:a16="http://schemas.microsoft.com/office/drawing/2014/main" val="4000999073"/>
                    </a:ext>
                  </a:extLst>
                </a:gridCol>
                <a:gridCol w="941683">
                  <a:extLst>
                    <a:ext uri="{9D8B030D-6E8A-4147-A177-3AD203B41FA5}">
                      <a16:colId xmlns:a16="http://schemas.microsoft.com/office/drawing/2014/main" val="625339588"/>
                    </a:ext>
                  </a:extLst>
                </a:gridCol>
                <a:gridCol w="941683">
                  <a:extLst>
                    <a:ext uri="{9D8B030D-6E8A-4147-A177-3AD203B41FA5}">
                      <a16:colId xmlns:a16="http://schemas.microsoft.com/office/drawing/2014/main" val="4127088408"/>
                    </a:ext>
                  </a:extLst>
                </a:gridCol>
                <a:gridCol w="941683">
                  <a:extLst>
                    <a:ext uri="{9D8B030D-6E8A-4147-A177-3AD203B41FA5}">
                      <a16:colId xmlns:a16="http://schemas.microsoft.com/office/drawing/2014/main" val="3574810238"/>
                    </a:ext>
                  </a:extLst>
                </a:gridCol>
                <a:gridCol w="941683">
                  <a:extLst>
                    <a:ext uri="{9D8B030D-6E8A-4147-A177-3AD203B41FA5}">
                      <a16:colId xmlns:a16="http://schemas.microsoft.com/office/drawing/2014/main" val="3775343360"/>
                    </a:ext>
                  </a:extLst>
                </a:gridCol>
                <a:gridCol w="941683">
                  <a:extLst>
                    <a:ext uri="{9D8B030D-6E8A-4147-A177-3AD203B41FA5}">
                      <a16:colId xmlns:a16="http://schemas.microsoft.com/office/drawing/2014/main" val="3492237891"/>
                    </a:ext>
                  </a:extLst>
                </a:gridCol>
                <a:gridCol w="941683">
                  <a:extLst>
                    <a:ext uri="{9D8B030D-6E8A-4147-A177-3AD203B41FA5}">
                      <a16:colId xmlns:a16="http://schemas.microsoft.com/office/drawing/2014/main" val="2006436116"/>
                    </a:ext>
                  </a:extLst>
                </a:gridCol>
              </a:tblGrid>
              <a:tr h="44004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Scenario</a:t>
                      </a:r>
                      <a:endParaRPr lang="de-DE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Nodes</a:t>
                      </a:r>
                      <a:endParaRPr lang="de-DE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Lines</a:t>
                      </a:r>
                      <a:endParaRPr lang="de-DE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Sellers</a:t>
                      </a:r>
                      <a:endParaRPr lang="de-DE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Buyers</a:t>
                      </a:r>
                      <a:endParaRPr lang="de-DE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Demand (GWh)</a:t>
                      </a:r>
                      <a:endParaRPr lang="de-DE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Supply (GWh)</a:t>
                      </a:r>
                      <a:endParaRPr lang="de-DE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494469"/>
                  </a:ext>
                </a:extLst>
              </a:tr>
              <a:tr h="262756"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1.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617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841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94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404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506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830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753521"/>
                  </a:ext>
                </a:extLst>
              </a:tr>
              <a:tr h="262756"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2.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2,020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2,709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194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1,392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622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1,041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777192"/>
                  </a:ext>
                </a:extLst>
              </a:tr>
              <a:tr h="262756"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3.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8,718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26,084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321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5,819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988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1,088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815653"/>
                  </a:ext>
                </a:extLst>
              </a:tr>
              <a:tr h="262756"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4.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10,480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16,253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750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6,871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2,033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2,289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965695"/>
                  </a:ext>
                </a:extLst>
              </a:tr>
              <a:tr h="262756"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5.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12,209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30,500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2,009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6,987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2,391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3,328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530030"/>
                  </a:ext>
                </a:extLst>
              </a:tr>
              <a:tr h="262756"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6.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18,889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57,630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898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12,273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2,686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2,916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380588"/>
                  </a:ext>
                </a:extLst>
              </a:tr>
              <a:tr h="26275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ISO-NE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1,216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-</a:t>
                      </a:r>
                      <a:endParaRPr lang="de-DE" sz="1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98</a:t>
                      </a:r>
                      <a:endParaRPr lang="de-DE" sz="1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139</a:t>
                      </a:r>
                      <a:endParaRPr lang="de-DE" sz="1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380</a:t>
                      </a:r>
                      <a:endParaRPr lang="de-DE" sz="1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2,151</a:t>
                      </a:r>
                      <a:endParaRPr lang="de-DE" sz="1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763717"/>
                  </a:ext>
                </a:extLst>
              </a:tr>
              <a:tr h="262756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PJM</a:t>
                      </a:r>
                      <a:endParaRPr lang="de-DE" sz="1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13,431</a:t>
                      </a:r>
                      <a:endParaRPr lang="de-DE" sz="1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-</a:t>
                      </a:r>
                      <a:endParaRPr lang="de-DE" sz="1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1,217</a:t>
                      </a:r>
                      <a:endParaRPr lang="de-DE" sz="1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366</a:t>
                      </a:r>
                      <a:endParaRPr lang="de-DE" sz="1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2,204</a:t>
                      </a:r>
                      <a:endParaRPr lang="de-DE" sz="1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4,907</a:t>
                      </a:r>
                      <a:endParaRPr lang="de-DE" sz="1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271852"/>
                  </a:ext>
                </a:extLst>
              </a:tr>
            </a:tbl>
          </a:graphicData>
        </a:graphic>
      </p:graphicFrame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23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z="3000" dirty="0"/>
              <a:t>Data sets</a:t>
            </a:r>
            <a:endParaRPr lang="de-DE" sz="3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85654A-07F6-4424-93DD-59BC4A8E30F7}"/>
              </a:ext>
            </a:extLst>
          </p:cNvPr>
          <p:cNvSpPr txBox="1"/>
          <p:nvPr/>
        </p:nvSpPr>
        <p:spPr>
          <a:xfrm>
            <a:off x="319090" y="1806974"/>
            <a:ext cx="8508998" cy="2250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400" dirty="0">
                <a:latin typeface="+mn-lt"/>
              </a:rPr>
              <a:t>6 scenarios from the ARPA-E Challenge 2 extended to 24 hours </a:t>
            </a:r>
            <a:endParaRPr lang="de-DE" sz="1400" dirty="0" err="1">
              <a:latin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6C39EA-32C2-3392-5AE6-076509436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0156" y="760388"/>
            <a:ext cx="2963775" cy="1888211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3515C074-5C0E-2D74-5272-B59C3A67210D}"/>
              </a:ext>
            </a:extLst>
          </p:cNvPr>
          <p:cNvSpPr/>
          <p:nvPr/>
        </p:nvSpPr>
        <p:spPr>
          <a:xfrm>
            <a:off x="7713961" y="1306286"/>
            <a:ext cx="852523" cy="5912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8916F1B-6BA1-D49B-E528-46D10A412562}"/>
              </a:ext>
            </a:extLst>
          </p:cNvPr>
          <p:cNvSpPr/>
          <p:nvPr/>
        </p:nvSpPr>
        <p:spPr>
          <a:xfrm>
            <a:off x="8198947" y="813438"/>
            <a:ext cx="628062" cy="5912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514E0CA8-E426-5735-59B4-F4469BD00FD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1162" y="6473313"/>
            <a:ext cx="7512802" cy="365125"/>
          </a:xfrm>
        </p:spPr>
        <p:txBody>
          <a:bodyPr/>
          <a:lstStyle/>
          <a:p>
            <a:r>
              <a:rPr lang="en-US" sz="1000" dirty="0"/>
              <a:t>Solving Large-Scale Electricity Market Pricing Problems in Polynomial Time | </a:t>
            </a:r>
            <a:r>
              <a:rPr lang="en-US" sz="1000" dirty="0" err="1"/>
              <a:t>Ahunbay</a:t>
            </a:r>
            <a:r>
              <a:rPr lang="en-US" sz="1000" dirty="0"/>
              <a:t>, </a:t>
            </a:r>
            <a:r>
              <a:rPr lang="en-US" sz="1000" dirty="0" err="1"/>
              <a:t>Bichler</a:t>
            </a:r>
            <a:r>
              <a:rPr lang="en-US" sz="1000" dirty="0"/>
              <a:t>, Dobos, </a:t>
            </a:r>
            <a:r>
              <a:rPr lang="en-US" sz="1000" dirty="0" err="1"/>
              <a:t>Kn</a:t>
            </a:r>
            <a:r>
              <a:rPr lang="de-DE" sz="1000" dirty="0" err="1"/>
              <a:t>örr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991123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>
          <a:xfrm>
            <a:off x="6774934" y="6473313"/>
            <a:ext cx="205207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E58CB1E-F828-4F11-99E0-327109AF9DA4}" type="slidenum">
              <a:rPr lang="de-DE" smtClean="0"/>
              <a:pPr>
                <a:spcAft>
                  <a:spcPts val="600"/>
                </a:spcAft>
              </a:pPr>
              <a:t>24</a:t>
            </a:fld>
            <a:endParaRPr lang="de-DE"/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453B7088-B60E-20BA-225E-58359599EC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1162" y="6473313"/>
            <a:ext cx="6464280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000"/>
              <a:t>Solving Large-Scale Electricity Market Pricing Problems in Polynomial Time | Ahunbay, Bichler, Dobos, Kn</a:t>
            </a:r>
            <a:r>
              <a:rPr lang="de-DE" sz="1000"/>
              <a:t>örr</a:t>
            </a:r>
            <a:endParaRPr lang="en-US" sz="100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9090" y="994334"/>
            <a:ext cx="8508999" cy="410369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Experiments overview</a:t>
            </a:r>
            <a:endParaRPr lang="de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3E6E2E-D014-E459-8927-F35FC6C3A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97447"/>
            <a:ext cx="7772400" cy="4915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6737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>
          <a:xfrm>
            <a:off x="6774934" y="6473313"/>
            <a:ext cx="205207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E58CB1E-F828-4F11-99E0-327109AF9DA4}" type="slidenum">
              <a:rPr lang="de-DE" smtClean="0"/>
              <a:pPr>
                <a:spcAft>
                  <a:spcPts val="600"/>
                </a:spcAft>
              </a:pPr>
              <a:t>25</a:t>
            </a:fld>
            <a:endParaRPr lang="de-DE"/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453B7088-B60E-20BA-225E-58359599EC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1162" y="6473313"/>
            <a:ext cx="6464280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000"/>
              <a:t>Solving Large-Scale Electricity Market Pricing Problems in Polynomial Time | Ahunbay, Bichler, Dobos, Kn</a:t>
            </a:r>
            <a:r>
              <a:rPr lang="de-DE" sz="1000"/>
              <a:t>örr</a:t>
            </a:r>
            <a:endParaRPr lang="en-US" sz="100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9090" y="994334"/>
            <a:ext cx="8508999" cy="410369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Result 1: Close approximation of OPT </a:t>
            </a:r>
            <a:endParaRPr lang="de-DE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3E11E1-E1E0-BB8F-FE0F-DB3BE890CCC7}"/>
              </a:ext>
            </a:extLst>
          </p:cNvPr>
          <p:cNvCxnSpPr>
            <a:cxnSpLocks/>
            <a:endCxn id="2" idx="0"/>
          </p:cNvCxnSpPr>
          <p:nvPr/>
        </p:nvCxnSpPr>
        <p:spPr>
          <a:xfrm flipH="1">
            <a:off x="7070622" y="1280501"/>
            <a:ext cx="172866" cy="347715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F8407EB-B5B8-3E43-0BE4-EE8D9891E679}"/>
              </a:ext>
            </a:extLst>
          </p:cNvPr>
          <p:cNvSpPr txBox="1"/>
          <p:nvPr/>
        </p:nvSpPr>
        <p:spPr>
          <a:xfrm>
            <a:off x="6904142" y="1024887"/>
            <a:ext cx="1643079" cy="22506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400" dirty="0">
                <a:solidFill>
                  <a:schemeClr val="bg2"/>
                </a:solidFill>
                <a:latin typeface="+mn-lt"/>
              </a:rPr>
              <a:t>Relative welfare loss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1EA5F0-ADD4-1B69-7557-B63516C92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97447"/>
            <a:ext cx="7772400" cy="491562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CFB5DC5-1ED0-BDC6-592C-ACACBE11C0B8}"/>
              </a:ext>
            </a:extLst>
          </p:cNvPr>
          <p:cNvSpPr/>
          <p:nvPr/>
        </p:nvSpPr>
        <p:spPr>
          <a:xfrm>
            <a:off x="6835983" y="1628216"/>
            <a:ext cx="469277" cy="484509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5320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>
          <a:xfrm>
            <a:off x="6774934" y="6473313"/>
            <a:ext cx="205207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E58CB1E-F828-4F11-99E0-327109AF9DA4}" type="slidenum">
              <a:rPr lang="de-DE" smtClean="0"/>
              <a:pPr>
                <a:spcAft>
                  <a:spcPts val="600"/>
                </a:spcAft>
              </a:pPr>
              <a:t>26</a:t>
            </a:fld>
            <a:endParaRPr lang="de-DE"/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453B7088-B60E-20BA-225E-58359599EC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1162" y="6473313"/>
            <a:ext cx="6464280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000"/>
              <a:t>Solving Large-Scale Electricity Market Pricing Problems in Polynomial Time | Ahunbay, Bichler, Dobos, Kn</a:t>
            </a:r>
            <a:r>
              <a:rPr lang="de-DE" sz="1000"/>
              <a:t>örr</a:t>
            </a:r>
            <a:endParaRPr lang="en-US" sz="100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9090" y="994334"/>
            <a:ext cx="8508999" cy="410369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Result 2: Fast method </a:t>
            </a:r>
            <a:endParaRPr lang="de-DE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4BC83E-8464-284F-1FFC-47F04C8DC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97447"/>
            <a:ext cx="7772400" cy="491562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0A35512-C65F-7F54-296F-1F4DB41449E8}"/>
              </a:ext>
            </a:extLst>
          </p:cNvPr>
          <p:cNvSpPr/>
          <p:nvPr/>
        </p:nvSpPr>
        <p:spPr>
          <a:xfrm>
            <a:off x="7311888" y="4734908"/>
            <a:ext cx="540024" cy="1773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435474-2715-1C96-DEEA-74280E64378C}"/>
              </a:ext>
            </a:extLst>
          </p:cNvPr>
          <p:cNvSpPr/>
          <p:nvPr/>
        </p:nvSpPr>
        <p:spPr>
          <a:xfrm>
            <a:off x="7311888" y="2996503"/>
            <a:ext cx="540024" cy="1773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1348BB-8981-64F1-00BD-F9FC60A961BA}"/>
              </a:ext>
            </a:extLst>
          </p:cNvPr>
          <p:cNvSpPr/>
          <p:nvPr/>
        </p:nvSpPr>
        <p:spPr>
          <a:xfrm>
            <a:off x="7311890" y="4053364"/>
            <a:ext cx="540024" cy="1773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4752C8-A1FE-6C5E-0647-BCDF4E4507DE}"/>
              </a:ext>
            </a:extLst>
          </p:cNvPr>
          <p:cNvSpPr/>
          <p:nvPr/>
        </p:nvSpPr>
        <p:spPr>
          <a:xfrm>
            <a:off x="7311888" y="1969459"/>
            <a:ext cx="540022" cy="1994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E4DC24-43BA-EFF4-F007-DB2FE4526F6E}"/>
              </a:ext>
            </a:extLst>
          </p:cNvPr>
          <p:cNvSpPr/>
          <p:nvPr/>
        </p:nvSpPr>
        <p:spPr>
          <a:xfrm>
            <a:off x="7311888" y="5415604"/>
            <a:ext cx="540023" cy="1994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C740A8-BD6C-B777-DF0B-942AA4323B1F}"/>
              </a:ext>
            </a:extLst>
          </p:cNvPr>
          <p:cNvSpPr/>
          <p:nvPr/>
        </p:nvSpPr>
        <p:spPr>
          <a:xfrm>
            <a:off x="7311888" y="1634920"/>
            <a:ext cx="540022" cy="19942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D00EAB-936B-8C45-8F30-58F795AFC814}"/>
              </a:ext>
            </a:extLst>
          </p:cNvPr>
          <p:cNvSpPr/>
          <p:nvPr/>
        </p:nvSpPr>
        <p:spPr>
          <a:xfrm>
            <a:off x="7311888" y="6015521"/>
            <a:ext cx="540023" cy="1994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56965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>
          <a:xfrm>
            <a:off x="6774934" y="6473313"/>
            <a:ext cx="205207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E58CB1E-F828-4F11-99E0-327109AF9DA4}" type="slidenum">
              <a:rPr lang="de-DE" smtClean="0"/>
              <a:pPr>
                <a:spcAft>
                  <a:spcPts val="600"/>
                </a:spcAft>
              </a:pPr>
              <a:t>27</a:t>
            </a:fld>
            <a:endParaRPr lang="de-DE"/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453B7088-B60E-20BA-225E-58359599EC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1162" y="6473313"/>
            <a:ext cx="6464280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000"/>
              <a:t>Solving Large-Scale Electricity Market Pricing Problems in Polynomial Time | Ahunbay, Bichler, Dobos, Kn</a:t>
            </a:r>
            <a:r>
              <a:rPr lang="de-DE" sz="1000"/>
              <a:t>örr</a:t>
            </a:r>
            <a:endParaRPr lang="en-US" sz="100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9090" y="994334"/>
            <a:ext cx="8508999" cy="410369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Result 3: No budget deficit</a:t>
            </a:r>
            <a:endParaRPr lang="de-DE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AE1AA9-B9A4-3129-7AD3-396C19776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97447"/>
            <a:ext cx="7772400" cy="4915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0071900-A047-ED1C-248F-440FF828987E}"/>
              </a:ext>
            </a:extLst>
          </p:cNvPr>
          <p:cNvSpPr/>
          <p:nvPr/>
        </p:nvSpPr>
        <p:spPr>
          <a:xfrm>
            <a:off x="5285479" y="1628215"/>
            <a:ext cx="737634" cy="484509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1EB308-CE65-FBF9-FFE1-7294150EB3BC}"/>
              </a:ext>
            </a:extLst>
          </p:cNvPr>
          <p:cNvSpPr txBox="1"/>
          <p:nvPr/>
        </p:nvSpPr>
        <p:spPr>
          <a:xfrm>
            <a:off x="5043775" y="1179641"/>
            <a:ext cx="3960764" cy="22506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400" dirty="0">
                <a:solidFill>
                  <a:schemeClr val="bg2"/>
                </a:solidFill>
                <a:latin typeface="+mn-lt"/>
              </a:rPr>
              <a:t>*A quantity in paratheses indicates budget surplus</a:t>
            </a:r>
          </a:p>
        </p:txBody>
      </p:sp>
    </p:spTree>
    <p:extLst>
      <p:ext uri="{BB962C8B-B14F-4D97-AF65-F5344CB8AC3E}">
        <p14:creationId xmlns:p14="http://schemas.microsoft.com/office/powerpoint/2010/main" val="22725861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5F939E-AF1A-C27E-2984-5396B2E68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dirty="0"/>
              <a:t>Electricity market model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Welfare maximization &amp; pricing problems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Markup mechanism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Evaluation</a:t>
            </a:r>
          </a:p>
          <a:p>
            <a:pPr marL="342900" indent="-342900">
              <a:buAutoNum type="arabicPeriod"/>
            </a:pPr>
            <a:endParaRPr lang="de-DE" dirty="0"/>
          </a:p>
          <a:p>
            <a:pPr marL="342900" indent="-342900">
              <a:buAutoNum type="arabicPeriod"/>
            </a:pPr>
            <a:r>
              <a:rPr lang="de-DE" b="1" dirty="0" err="1">
                <a:solidFill>
                  <a:schemeClr val="bg2"/>
                </a:solidFill>
              </a:rPr>
              <a:t>Conclusions</a:t>
            </a:r>
            <a:endParaRPr lang="de-DE" b="1" dirty="0">
              <a:solidFill>
                <a:schemeClr val="bg2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4EA9B5-547C-2365-920B-4E6113D74D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28</a:t>
            </a:fld>
            <a:endParaRPr lang="de-DE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3E6C020-B9E9-2BC0-448C-CA52FA602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de-DE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2E54CE0F-6CCD-810B-CE95-9E71E32BC32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1162" y="6473313"/>
            <a:ext cx="7512802" cy="365125"/>
          </a:xfrm>
        </p:spPr>
        <p:txBody>
          <a:bodyPr/>
          <a:lstStyle/>
          <a:p>
            <a:r>
              <a:rPr lang="en-US" sz="1000" dirty="0"/>
              <a:t>Solving Large-Scale Electricity Market Pricing Problems in Polynomial Time | </a:t>
            </a:r>
            <a:r>
              <a:rPr lang="en-US" sz="1000" dirty="0" err="1"/>
              <a:t>Ahunbay</a:t>
            </a:r>
            <a:r>
              <a:rPr lang="en-US" sz="1000" dirty="0"/>
              <a:t>, </a:t>
            </a:r>
            <a:r>
              <a:rPr lang="en-US" sz="1000" dirty="0" err="1"/>
              <a:t>Bichler</a:t>
            </a:r>
            <a:r>
              <a:rPr lang="en-US" sz="1000" dirty="0"/>
              <a:t>, Dobos, </a:t>
            </a:r>
            <a:r>
              <a:rPr lang="en-US" sz="1000" dirty="0" err="1"/>
              <a:t>Kn</a:t>
            </a:r>
            <a:r>
              <a:rPr lang="de-DE" sz="1000" dirty="0" err="1"/>
              <a:t>örr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898417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29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sz="3000" dirty="0" err="1"/>
              <a:t>Conclusions</a:t>
            </a:r>
            <a:endParaRPr lang="de-DE" sz="30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1ACBD6-8267-97F5-1D64-8682C55725B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1162" y="6473313"/>
            <a:ext cx="7512802" cy="365125"/>
          </a:xfrm>
        </p:spPr>
        <p:txBody>
          <a:bodyPr/>
          <a:lstStyle/>
          <a:p>
            <a:r>
              <a:rPr lang="en-US" sz="1000" dirty="0"/>
              <a:t>Solving Large-Scale Electricity Market Pricing Problems in Polynomial Time | </a:t>
            </a:r>
            <a:r>
              <a:rPr lang="en-US" sz="1000" dirty="0" err="1"/>
              <a:t>Ahunbay</a:t>
            </a:r>
            <a:r>
              <a:rPr lang="en-US" sz="1000" dirty="0"/>
              <a:t>, </a:t>
            </a:r>
            <a:r>
              <a:rPr lang="en-US" sz="1000" dirty="0" err="1"/>
              <a:t>Bichler</a:t>
            </a:r>
            <a:r>
              <a:rPr lang="en-US" sz="1000" dirty="0"/>
              <a:t>, Dobos, </a:t>
            </a:r>
            <a:r>
              <a:rPr lang="en-US" sz="1000" dirty="0" err="1"/>
              <a:t>Kn</a:t>
            </a:r>
            <a:r>
              <a:rPr lang="de-DE" sz="1000" dirty="0" err="1"/>
              <a:t>örr</a:t>
            </a:r>
            <a:endParaRPr lang="en-US" sz="10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354976-574A-3A25-CC81-6234DE77E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 err="1"/>
              <a:t>Electricity</a:t>
            </a:r>
            <a:r>
              <a:rPr lang="de-DE" sz="1400" dirty="0"/>
              <a:t> </a:t>
            </a:r>
            <a:r>
              <a:rPr lang="de-DE" sz="1400" dirty="0" err="1"/>
              <a:t>markets</a:t>
            </a:r>
            <a:r>
              <a:rPr lang="de-DE" sz="1400" dirty="0"/>
              <a:t> </a:t>
            </a:r>
            <a:r>
              <a:rPr lang="de-DE" sz="1400" dirty="0" err="1"/>
              <a:t>need</a:t>
            </a:r>
            <a:r>
              <a:rPr lang="de-DE" sz="1400" dirty="0"/>
              <a:t> </a:t>
            </a:r>
            <a:r>
              <a:rPr lang="de-DE" sz="1400" dirty="0" err="1"/>
              <a:t>to</a:t>
            </a:r>
            <a:r>
              <a:rPr lang="de-DE" sz="1400" dirty="0"/>
              <a:t> </a:t>
            </a:r>
            <a:r>
              <a:rPr lang="de-DE" sz="1400" dirty="0" err="1"/>
              <a:t>solve</a:t>
            </a:r>
            <a:r>
              <a:rPr lang="de-DE" sz="1400" dirty="0"/>
              <a:t> </a:t>
            </a:r>
            <a:r>
              <a:rPr lang="de-DE" sz="1400" dirty="0" err="1"/>
              <a:t>very</a:t>
            </a:r>
            <a:r>
              <a:rPr lang="de-DE" sz="1400" dirty="0"/>
              <a:t> large non-</a:t>
            </a:r>
            <a:r>
              <a:rPr lang="de-DE" sz="1400" dirty="0" err="1"/>
              <a:t>convex</a:t>
            </a:r>
            <a:r>
              <a:rPr lang="de-DE" sz="1400" dirty="0"/>
              <a:t> </a:t>
            </a:r>
            <a:r>
              <a:rPr lang="de-DE" sz="1400" dirty="0" err="1"/>
              <a:t>problems</a:t>
            </a:r>
            <a:r>
              <a:rPr lang="de-DE" sz="1400" dirty="0"/>
              <a:t> and </a:t>
            </a:r>
            <a:r>
              <a:rPr lang="de-DE" sz="1400" dirty="0" err="1"/>
              <a:t>determine</a:t>
            </a:r>
            <a:r>
              <a:rPr lang="de-DE" sz="1400" dirty="0"/>
              <a:t> </a:t>
            </a:r>
            <a:r>
              <a:rPr lang="de-DE" sz="1400" dirty="0" err="1"/>
              <a:t>prices</a:t>
            </a:r>
            <a:r>
              <a:rPr lang="de-DE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 err="1"/>
              <a:t>Runtime</a:t>
            </a:r>
            <a:r>
              <a:rPr lang="de-DE" sz="1400" dirty="0"/>
              <a:t> </a:t>
            </a:r>
            <a:r>
              <a:rPr lang="de-DE" sz="1400" dirty="0" err="1"/>
              <a:t>limits</a:t>
            </a:r>
            <a:r>
              <a:rPr lang="de-DE" sz="1400" dirty="0"/>
              <a:t> </a:t>
            </a:r>
            <a:r>
              <a:rPr lang="de-DE" sz="1400" dirty="0" err="1"/>
              <a:t>are</a:t>
            </a:r>
            <a:r>
              <a:rPr lang="de-DE" sz="1400" dirty="0"/>
              <a:t> a </a:t>
            </a:r>
            <a:r>
              <a:rPr lang="de-DE" sz="1400" dirty="0" err="1"/>
              <a:t>concern</a:t>
            </a:r>
            <a:r>
              <a:rPr lang="de-DE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The </a:t>
            </a:r>
            <a:r>
              <a:rPr lang="de-DE" sz="1400" dirty="0" err="1"/>
              <a:t>markup</a:t>
            </a:r>
            <a:r>
              <a:rPr lang="de-DE" sz="1400" dirty="0"/>
              <a:t> </a:t>
            </a:r>
            <a:r>
              <a:rPr lang="de-DE" sz="1400" dirty="0" err="1"/>
              <a:t>mechanism</a:t>
            </a:r>
            <a:r>
              <a:rPr lang="de-DE" sz="1400" dirty="0"/>
              <a:t> </a:t>
            </a:r>
            <a:r>
              <a:rPr lang="de-DE" sz="1400" dirty="0" err="1"/>
              <a:t>computes</a:t>
            </a:r>
            <a:r>
              <a:rPr lang="de-DE" sz="1400" dirty="0"/>
              <a:t> a </a:t>
            </a:r>
            <a:r>
              <a:rPr lang="de-DE" sz="1400" dirty="0" err="1"/>
              <a:t>near</a:t>
            </a:r>
            <a:r>
              <a:rPr lang="de-DE" sz="1400" dirty="0"/>
              <a:t>-optimal </a:t>
            </a:r>
            <a:r>
              <a:rPr lang="de-DE" sz="1400" dirty="0" err="1"/>
              <a:t>allocation</a:t>
            </a:r>
            <a:r>
              <a:rPr lang="de-DE" sz="1400" dirty="0"/>
              <a:t> in polynomial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The </a:t>
            </a:r>
            <a:r>
              <a:rPr lang="de-DE" sz="1400" dirty="0" err="1"/>
              <a:t>markup</a:t>
            </a:r>
            <a:r>
              <a:rPr lang="de-DE" sz="1400" dirty="0"/>
              <a:t> </a:t>
            </a:r>
            <a:r>
              <a:rPr lang="de-DE" sz="1400" dirty="0" err="1"/>
              <a:t>mechanism</a:t>
            </a:r>
            <a:r>
              <a:rPr lang="de-DE" sz="1400" dirty="0"/>
              <a:t> </a:t>
            </a:r>
            <a:r>
              <a:rPr lang="de-DE" sz="1400" dirty="0" err="1"/>
              <a:t>relies</a:t>
            </a:r>
            <a:r>
              <a:rPr lang="de-DE" sz="1400" dirty="0"/>
              <a:t> on </a:t>
            </a:r>
            <a:r>
              <a:rPr lang="de-DE" sz="1400" dirty="0" err="1"/>
              <a:t>two</a:t>
            </a:r>
            <a:r>
              <a:rPr lang="de-DE" sz="1400" dirty="0"/>
              <a:t> </a:t>
            </a:r>
            <a:r>
              <a:rPr lang="de-DE" sz="1400" dirty="0" err="1"/>
              <a:t>hyperparameters</a:t>
            </a:r>
            <a:r>
              <a:rPr lang="de-DE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Buyers pay slightly higher prices to cover the make-whole payments.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markup mechanism is a practical recommendation for large electricity markets.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39501003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1162" y="2866368"/>
            <a:ext cx="8508999" cy="410369"/>
          </a:xfrm>
        </p:spPr>
        <p:txBody>
          <a:bodyPr/>
          <a:lstStyle/>
          <a:p>
            <a:pPr algn="ctr"/>
            <a:r>
              <a:rPr lang="de-DE" dirty="0"/>
              <a:t>Thanks!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30</a:t>
            </a:fld>
            <a:endParaRPr lang="de-DE" dirty="0"/>
          </a:p>
        </p:txBody>
      </p:sp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28115FD4-C520-139B-DFE3-169E89AA713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1162" y="6473313"/>
            <a:ext cx="7512802" cy="365125"/>
          </a:xfrm>
        </p:spPr>
        <p:txBody>
          <a:bodyPr/>
          <a:lstStyle/>
          <a:p>
            <a:r>
              <a:rPr lang="en-US" dirty="0"/>
              <a:t>Solving Large-Scale Electricity Market Pricing Problems in Polynomial Time | </a:t>
            </a:r>
            <a:r>
              <a:rPr lang="en-US" dirty="0" err="1"/>
              <a:t>Ahunbay</a:t>
            </a:r>
            <a:r>
              <a:rPr lang="en-US" dirty="0"/>
              <a:t>, </a:t>
            </a:r>
            <a:r>
              <a:rPr lang="en-US" dirty="0" err="1"/>
              <a:t>Bichler</a:t>
            </a:r>
            <a:r>
              <a:rPr lang="en-US" dirty="0"/>
              <a:t>, Dobos, </a:t>
            </a:r>
            <a:r>
              <a:rPr lang="en-US" dirty="0" err="1"/>
              <a:t>Kn</a:t>
            </a:r>
            <a:r>
              <a:rPr lang="de-DE" dirty="0" err="1"/>
              <a:t>örr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AE5FB9-CDAE-2BB2-F870-511313321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090" y="3245088"/>
            <a:ext cx="8508999" cy="3216671"/>
          </a:xfrm>
        </p:spPr>
        <p:txBody>
          <a:bodyPr/>
          <a:lstStyle/>
          <a:p>
            <a:endParaRPr lang="en-US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1962E1-CFA4-993F-226A-1699F1022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767" y="3655457"/>
            <a:ext cx="1953787" cy="1953787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94BD63F-D9EA-2E9C-79B9-3A233301560A}"/>
              </a:ext>
            </a:extLst>
          </p:cNvPr>
          <p:cNvCxnSpPr>
            <a:cxnSpLocks/>
          </p:cNvCxnSpPr>
          <p:nvPr/>
        </p:nvCxnSpPr>
        <p:spPr>
          <a:xfrm>
            <a:off x="2096429" y="3802566"/>
            <a:ext cx="1393902" cy="85380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EF29FBA-63E0-DE7E-4F55-3B650FC71239}"/>
              </a:ext>
            </a:extLst>
          </p:cNvPr>
          <p:cNvSpPr txBox="1"/>
          <p:nvPr/>
        </p:nvSpPr>
        <p:spPr>
          <a:xfrm>
            <a:off x="1326996" y="3452639"/>
            <a:ext cx="924933" cy="2572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dirty="0">
                <a:latin typeface="+mn-lt"/>
              </a:rPr>
              <a:t>Our paper</a:t>
            </a:r>
          </a:p>
        </p:txBody>
      </p:sp>
    </p:spTree>
    <p:extLst>
      <p:ext uri="{BB962C8B-B14F-4D97-AF65-F5344CB8AC3E}">
        <p14:creationId xmlns:p14="http://schemas.microsoft.com/office/powerpoint/2010/main" val="1487666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31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sz="3000" dirty="0"/>
              <a:t>References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1ACBD6-8267-97F5-1D64-8682C55725B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1162" y="6473313"/>
            <a:ext cx="7512802" cy="365125"/>
          </a:xfrm>
        </p:spPr>
        <p:txBody>
          <a:bodyPr/>
          <a:lstStyle/>
          <a:p>
            <a:r>
              <a:rPr lang="en-US" sz="1000" dirty="0"/>
              <a:t>Solving Large-Scale Electricity Market Pricing Problems in Polynomial Time | </a:t>
            </a:r>
            <a:r>
              <a:rPr lang="en-US" sz="1000" dirty="0" err="1"/>
              <a:t>Ahunbay</a:t>
            </a:r>
            <a:r>
              <a:rPr lang="en-US" sz="1000" dirty="0"/>
              <a:t>, </a:t>
            </a:r>
            <a:r>
              <a:rPr lang="en-US" sz="1000" dirty="0" err="1"/>
              <a:t>Bichler</a:t>
            </a:r>
            <a:r>
              <a:rPr lang="en-US" sz="1000" dirty="0"/>
              <a:t>, Dobos, </a:t>
            </a:r>
            <a:r>
              <a:rPr lang="en-US" sz="1000" dirty="0" err="1"/>
              <a:t>Kn</a:t>
            </a:r>
            <a:r>
              <a:rPr lang="de-DE" sz="1000" dirty="0" err="1"/>
              <a:t>örr</a:t>
            </a:r>
            <a:endParaRPr lang="en-US" sz="10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354976-574A-3A25-CC81-6234DE77E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dirty="0"/>
              <a:t>Milgrom P, Watt M (2022) Walrasian mechanisms for non-convex economies and the bound-form first welfare theorem. </a:t>
            </a:r>
            <a:r>
              <a:rPr lang="en-DE" sz="1200" i="1" dirty="0"/>
              <a:t>Proceedings of the ACM Conference of Economics and Computation</a:t>
            </a:r>
            <a:endParaRPr lang="en-US" sz="12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Neill, </a:t>
            </a:r>
            <a:r>
              <a:rPr lang="de-DE" sz="1200" dirty="0" err="1"/>
              <a:t>Hytowitz</a:t>
            </a:r>
            <a:r>
              <a:rPr lang="de-DE" sz="1200" dirty="0"/>
              <a:t>, Whitman, Mead, Dautel, Chen, Eldridge, </a:t>
            </a:r>
            <a:r>
              <a:rPr lang="de-DE" sz="1200" dirty="0" err="1"/>
              <a:t>Siskind</a:t>
            </a:r>
            <a:r>
              <a:rPr lang="de-DE" sz="1200" dirty="0"/>
              <a:t>, </a:t>
            </a:r>
            <a:r>
              <a:rPr lang="de-DE" sz="1200" dirty="0" err="1"/>
              <a:t>Kheloussi</a:t>
            </a:r>
            <a:r>
              <a:rPr lang="de-DE" sz="1200" dirty="0"/>
              <a:t>, </a:t>
            </a:r>
            <a:r>
              <a:rPr lang="de-DE" sz="1200" dirty="0" err="1"/>
              <a:t>Kolkmann</a:t>
            </a:r>
            <a:r>
              <a:rPr lang="de-DE" sz="1200" dirty="0"/>
              <a:t>, Smith, Castillo, Mays: Essays on </a:t>
            </a:r>
            <a:r>
              <a:rPr lang="de-DE" sz="1200" dirty="0" err="1"/>
              <a:t>average</a:t>
            </a:r>
            <a:r>
              <a:rPr lang="de-DE" sz="1200" dirty="0"/>
              <a:t> </a:t>
            </a:r>
            <a:r>
              <a:rPr lang="de-DE" sz="1200" dirty="0" err="1"/>
              <a:t>incremental</a:t>
            </a:r>
            <a:r>
              <a:rPr lang="de-DE" sz="1200" dirty="0"/>
              <a:t> </a:t>
            </a:r>
            <a:r>
              <a:rPr lang="de-DE" sz="1200" dirty="0" err="1"/>
              <a:t>cost</a:t>
            </a:r>
            <a:r>
              <a:rPr lang="de-DE" sz="1200" dirty="0"/>
              <a:t> pricing </a:t>
            </a:r>
            <a:r>
              <a:rPr lang="de-DE" sz="1200" dirty="0" err="1"/>
              <a:t>for</a:t>
            </a:r>
            <a:r>
              <a:rPr lang="de-DE" sz="1200" dirty="0"/>
              <a:t> </a:t>
            </a:r>
            <a:r>
              <a:rPr lang="de-DE" sz="1200" dirty="0" err="1"/>
              <a:t>independent</a:t>
            </a:r>
            <a:r>
              <a:rPr lang="de-DE" sz="1200" dirty="0"/>
              <a:t> </a:t>
            </a:r>
            <a:r>
              <a:rPr lang="de-DE" sz="1200" dirty="0" err="1"/>
              <a:t>system</a:t>
            </a:r>
            <a:r>
              <a:rPr lang="de-DE" sz="1200" dirty="0"/>
              <a:t> </a:t>
            </a:r>
            <a:r>
              <a:rPr lang="de-DE" sz="1200" dirty="0" err="1"/>
              <a:t>operators</a:t>
            </a:r>
            <a:r>
              <a:rPr lang="de-DE" sz="1200" dirty="0"/>
              <a:t>. 2019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Ahunbay</a:t>
            </a:r>
            <a:r>
              <a:rPr lang="en-US" sz="1200" dirty="0"/>
              <a:t>, </a:t>
            </a:r>
            <a:r>
              <a:rPr lang="en-US" sz="1200" dirty="0" err="1"/>
              <a:t>Bichler</a:t>
            </a:r>
            <a:r>
              <a:rPr lang="en-US" sz="1200" dirty="0"/>
              <a:t>, </a:t>
            </a:r>
            <a:r>
              <a:rPr lang="en-US" sz="1200" dirty="0" err="1"/>
              <a:t>Knoerr</a:t>
            </a:r>
            <a:r>
              <a:rPr lang="en-US" sz="1200" dirty="0"/>
              <a:t>: Pricing optimal outcomes in coupled and non-convex markets: Theory and applications to electricity markets, Operations Research 2024, </a:t>
            </a:r>
            <a:r>
              <a:rPr lang="en-US" sz="1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https://doi.org/10.1287/opre.2023.0401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Molzahn</a:t>
            </a:r>
            <a:r>
              <a:rPr lang="en-US" sz="1200" dirty="0"/>
              <a:t>, D.K., </a:t>
            </a:r>
            <a:r>
              <a:rPr lang="en-US" sz="1200" dirty="0" err="1"/>
              <a:t>Hiskens</a:t>
            </a:r>
            <a:r>
              <a:rPr lang="en-US" sz="1200" dirty="0"/>
              <a:t>, I.A., 2019. A survey of relaxations and approximations of the power flow equations. Found. Trends® </a:t>
            </a:r>
            <a:r>
              <a:rPr lang="en-US" sz="1200" dirty="0" err="1"/>
              <a:t>Electr</a:t>
            </a:r>
            <a:r>
              <a:rPr lang="en-US" sz="1200" dirty="0"/>
              <a:t>. Energy Syst. 4 (1–2), 1–221. </a:t>
            </a:r>
            <a:r>
              <a:rPr lang="en-US" sz="12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http://dx.doi.org/10.1561/3100000012</a:t>
            </a:r>
            <a:r>
              <a:rPr lang="en-US" sz="1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Liberopoulos</a:t>
            </a:r>
            <a:r>
              <a:rPr lang="en-US" sz="1200" dirty="0"/>
              <a:t>, </a:t>
            </a:r>
            <a:r>
              <a:rPr lang="en-US" sz="1200" dirty="0" err="1"/>
              <a:t>Andrianesis</a:t>
            </a:r>
            <a:r>
              <a:rPr lang="en-US" sz="1200" dirty="0"/>
              <a:t>: Critical review of pricing schemes in markets with non-convex costs. 2016. Operations Research 64(1):17–31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200" dirty="0"/>
              <a:t>Starr RM, Quasi-</a:t>
            </a:r>
            <a:r>
              <a:rPr lang="it-IT" sz="1200" dirty="0" err="1"/>
              <a:t>equilibria</a:t>
            </a:r>
            <a:r>
              <a:rPr lang="it-IT" sz="1200" dirty="0"/>
              <a:t> in markets with non-</a:t>
            </a:r>
            <a:r>
              <a:rPr lang="it-IT" sz="1200" dirty="0" err="1"/>
              <a:t>convex</a:t>
            </a:r>
            <a:r>
              <a:rPr lang="it-IT" sz="1200" dirty="0"/>
              <a:t> </a:t>
            </a:r>
            <a:r>
              <a:rPr lang="it-IT" sz="1200" dirty="0" err="1"/>
              <a:t>preferences</a:t>
            </a:r>
            <a:r>
              <a:rPr lang="it-IT" sz="1200" dirty="0"/>
              <a:t>. Econometrica 37(1):25, ISSN 00129682, URL </a:t>
            </a:r>
            <a:r>
              <a:rPr lang="it-IT" sz="1200" u="sng" dirty="0"/>
              <a:t>http://</a:t>
            </a:r>
            <a:r>
              <a:rPr lang="it-IT" sz="1200" u="sng" dirty="0" err="1"/>
              <a:t>dx.doi.org</a:t>
            </a:r>
            <a:r>
              <a:rPr lang="it-IT" sz="1200" u="sng" dirty="0"/>
              <a:t>/10.2307/1909201</a:t>
            </a:r>
            <a:r>
              <a:rPr lang="it-IT" sz="12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O’Neill RP, </a:t>
            </a:r>
            <a:r>
              <a:rPr lang="de-DE" sz="1200" dirty="0" err="1"/>
              <a:t>Sotkiewicz</a:t>
            </a:r>
            <a:r>
              <a:rPr lang="de-DE" sz="1200" dirty="0"/>
              <a:t> PM, Hobbs BF, Rothkopf MH, Stewart WR (2005) </a:t>
            </a:r>
            <a:r>
              <a:rPr lang="de-DE" sz="1200" dirty="0" err="1"/>
              <a:t>Efficient</a:t>
            </a:r>
            <a:r>
              <a:rPr lang="de-DE" sz="1200" dirty="0"/>
              <a:t> </a:t>
            </a:r>
            <a:r>
              <a:rPr lang="de-DE" sz="1200" dirty="0" err="1"/>
              <a:t>market</a:t>
            </a:r>
            <a:r>
              <a:rPr lang="de-DE" sz="1200" dirty="0"/>
              <a:t>-clearing </a:t>
            </a:r>
            <a:r>
              <a:rPr lang="de-DE" sz="1200" dirty="0" err="1"/>
              <a:t>prices</a:t>
            </a:r>
            <a:r>
              <a:rPr lang="de-DE" sz="1200" dirty="0"/>
              <a:t> in </a:t>
            </a:r>
            <a:r>
              <a:rPr lang="de-DE" sz="1200" dirty="0" err="1"/>
              <a:t>markets</a:t>
            </a:r>
            <a:r>
              <a:rPr lang="de-DE" sz="1200" dirty="0"/>
              <a:t> </a:t>
            </a:r>
            <a:r>
              <a:rPr lang="de-DE" sz="1200" dirty="0" err="1"/>
              <a:t>with</a:t>
            </a:r>
            <a:r>
              <a:rPr lang="de-DE" sz="1200" dirty="0"/>
              <a:t> </a:t>
            </a:r>
            <a:r>
              <a:rPr lang="de-DE" sz="1200" dirty="0" err="1"/>
              <a:t>nonconvexities</a:t>
            </a:r>
            <a:r>
              <a:rPr lang="de-DE" sz="1200" dirty="0"/>
              <a:t>. European Journal </a:t>
            </a:r>
            <a:r>
              <a:rPr lang="de-DE" sz="1200" dirty="0" err="1"/>
              <a:t>of</a:t>
            </a:r>
            <a:r>
              <a:rPr lang="de-DE" sz="1200" dirty="0"/>
              <a:t> Operational Research 1(164):269–285, URL </a:t>
            </a:r>
            <a:r>
              <a:rPr lang="de-DE" sz="12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https://doi.org/10.1016/j.ejor.2003.12.011</a:t>
            </a:r>
            <a:endParaRPr lang="de-DE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200" dirty="0"/>
          </a:p>
          <a:p>
            <a:endParaRPr lang="en-DE" sz="1200" i="1" dirty="0"/>
          </a:p>
          <a:p>
            <a:endParaRPr lang="en-DE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27840577"/>
      </p:ext>
    </p:extLst>
  </p:cSld>
  <p:clrMapOvr>
    <a:masterClrMapping/>
  </p:clrMapOvr>
</p:sld>
</file>

<file path=ppt/theme/theme1.xml><?xml version="1.0" encoding="utf-8"?>
<a:theme xmlns:a="http://schemas.openxmlformats.org/drawingml/2006/main" name="160104_TUM_Praesentation_p_v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3AA9884A-113D-4C11-9945-C6A08D921A6E}"/>
    </a:ext>
  </a:extLst>
</a:theme>
</file>

<file path=ppt/theme/theme2.xml><?xml version="1.0" encoding="utf-8"?>
<a:theme xmlns:a="http://schemas.openxmlformats.org/drawingml/2006/main" name="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402C367E-F50E-423C-A37C-5A8CABF57FC5}"/>
    </a:ext>
  </a:extLst>
</a:theme>
</file>

<file path=ppt/theme/theme3.xml><?xml version="1.0" encoding="utf-8"?>
<a:theme xmlns:a="http://schemas.openxmlformats.org/drawingml/2006/main" name="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5CCDF41C-F6E0-4FD6-99AE-3A51B2B147FF}"/>
    </a:ext>
  </a:extLst>
</a:theme>
</file>

<file path=ppt/theme/theme4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1567C3F1-47A2-4B46-B4FE-8FF264F6166D}"/>
    </a:ext>
  </a:extLst>
</a:theme>
</file>

<file path=ppt/theme/theme5.xml><?xml version="1.0" encoding="utf-8"?>
<a:theme xmlns:a="http://schemas.openxmlformats.org/drawingml/2006/main" name="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F07EE733-870D-406F-B5B6-25783610C7BF}"/>
    </a:ext>
  </a:extLst>
</a:theme>
</file>

<file path=ppt/theme/theme6.xml><?xml version="1.0" encoding="utf-8"?>
<a:theme xmlns:a="http://schemas.openxmlformats.org/drawingml/2006/main" name="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B8BECA3F-AAB3-4A25-9CB6-CCBE808D17ED}"/>
    </a:ext>
  </a:extLst>
</a:theme>
</file>

<file path=ppt/theme/theme7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GPOM</Template>
  <TotalTime>2219</TotalTime>
  <Words>2201</Words>
  <Application>Microsoft Macintosh PowerPoint</Application>
  <PresentationFormat>On-screen Show (4:3)</PresentationFormat>
  <Paragraphs>523</Paragraphs>
  <Slides>31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31</vt:i4>
      </vt:variant>
    </vt:vector>
  </HeadingPairs>
  <TitlesOfParts>
    <vt:vector size="43" baseType="lpstr">
      <vt:lpstr>Arial</vt:lpstr>
      <vt:lpstr>Calibri</vt:lpstr>
      <vt:lpstr>Cambria Math</vt:lpstr>
      <vt:lpstr>Courier New</vt:lpstr>
      <vt:lpstr>Symbol</vt:lpstr>
      <vt:lpstr>Wingdings</vt:lpstr>
      <vt:lpstr>160104_TUM_Praesentation_p_v1</vt:lpstr>
      <vt:lpstr>Titel 2</vt:lpstr>
      <vt:lpstr>Titel 3</vt:lpstr>
      <vt:lpstr>Inhalt</vt:lpstr>
      <vt:lpstr>Kapiteltrenner blau</vt:lpstr>
      <vt:lpstr>Kapiteltrenner schwarz</vt:lpstr>
      <vt:lpstr>Solving Large-Scale Electricity Market Pricing Problems in Polynomial Time </vt:lpstr>
      <vt:lpstr>Pricing in non-convex markets</vt:lpstr>
      <vt:lpstr>Outline</vt:lpstr>
      <vt:lpstr>Electricity market model</vt:lpstr>
      <vt:lpstr>Electricity market model</vt:lpstr>
      <vt:lpstr>Electricity market model</vt:lpstr>
      <vt:lpstr>Electricity market model</vt:lpstr>
      <vt:lpstr>Outline</vt:lpstr>
      <vt:lpstr>Welfare maximization problem (WMP)</vt:lpstr>
      <vt:lpstr>Pricing problem</vt:lpstr>
      <vt:lpstr>Walrasian equilibria in electricity markets?</vt:lpstr>
      <vt:lpstr>Individual rationality in electricity markets</vt:lpstr>
      <vt:lpstr>Individual rationality in electricity markets</vt:lpstr>
      <vt:lpstr>How to compute prices?</vt:lpstr>
      <vt:lpstr>Outline</vt:lpstr>
      <vt:lpstr>Markup mechanism</vt:lpstr>
      <vt:lpstr>Markup mechanism for electricity markets</vt:lpstr>
      <vt:lpstr>Markup mechanism for electricity markets</vt:lpstr>
      <vt:lpstr>Markup mechanism for electricity markets</vt:lpstr>
      <vt:lpstr>What about the prices?</vt:lpstr>
      <vt:lpstr>Outline</vt:lpstr>
      <vt:lpstr>Data sets</vt:lpstr>
      <vt:lpstr>Data sets</vt:lpstr>
      <vt:lpstr>Experiments overview</vt:lpstr>
      <vt:lpstr>Result 1: Close approximation of OPT </vt:lpstr>
      <vt:lpstr>Result 2: Fast method </vt:lpstr>
      <vt:lpstr>Result 3: No budget deficit</vt:lpstr>
      <vt:lpstr>Outline</vt:lpstr>
      <vt:lpstr>Conclusions</vt:lpstr>
      <vt:lpstr>Thanks!</vt:lpstr>
      <vt:lpstr>References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Teodora Dobos</dc:creator>
  <cp:lastModifiedBy>Teodora Doboş</cp:lastModifiedBy>
  <cp:revision>73</cp:revision>
  <cp:lastPrinted>2015-07-30T14:04:45Z</cp:lastPrinted>
  <dcterms:created xsi:type="dcterms:W3CDTF">2024-06-25T09:10:52Z</dcterms:created>
  <dcterms:modified xsi:type="dcterms:W3CDTF">2024-09-05T07:53:25Z</dcterms:modified>
</cp:coreProperties>
</file>